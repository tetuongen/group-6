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6858000" cx="9906000"/>
  <p:notesSz cx="6718300" cy="9867900"/>
  <p:embeddedFontLst>
    <p:embeddedFont>
      <p:font typeface="Roboto Mono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46">
          <p15:clr>
            <a:srgbClr val="A4A3A4"/>
          </p15:clr>
        </p15:guide>
        <p15:guide id="2" pos="407">
          <p15:clr>
            <a:srgbClr val="A4A3A4"/>
          </p15:clr>
        </p15:guide>
      </p15:sldGuideLst>
    </p:ext>
    <p:ext uri="{2D200454-40CA-4A62-9FC3-DE9A4176ACB9}">
      <p15:notesGuideLst>
        <p15:guide id="1" orient="horz" pos="6043">
          <p15:clr>
            <a:srgbClr val="A4A3A4"/>
          </p15:clr>
        </p15:guide>
        <p15:guide id="2" pos="211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8042CC-0950-4BF5-A612-6E98E5844FFD}">
  <a:tblStyle styleId="{608042CC-0950-4BF5-A612-6E98E5844FF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7ED"/>
          </a:solidFill>
        </a:fill>
      </a:tcStyle>
    </a:wholeTbl>
    <a:band1H>
      <a:tcTxStyle/>
      <a:tcStyle>
        <a:fill>
          <a:solidFill>
            <a:srgbClr val="CCCCD9"/>
          </a:solidFill>
        </a:fill>
      </a:tcStyle>
    </a:band1H>
    <a:band2H>
      <a:tcTxStyle/>
    </a:band2H>
    <a:band1V>
      <a:tcTxStyle/>
      <a:tcStyle>
        <a:fill>
          <a:solidFill>
            <a:srgbClr val="CCCCD9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6" orient="horz"/>
        <p:guide pos="407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6043" orient="horz"/>
        <p:guide pos="211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RobotoMono-bold.fntdata"/><Relationship Id="rId10" Type="http://schemas.openxmlformats.org/officeDocument/2006/relationships/slide" Target="slides/slide4.xml"/><Relationship Id="rId54" Type="http://schemas.openxmlformats.org/officeDocument/2006/relationships/font" Target="fonts/RobotoMono-regular.fntdata"/><Relationship Id="rId13" Type="http://schemas.openxmlformats.org/officeDocument/2006/relationships/slide" Target="slides/slide7.xml"/><Relationship Id="rId57" Type="http://schemas.openxmlformats.org/officeDocument/2006/relationships/font" Target="fonts/RobotoMono-boldItalic.fntdata"/><Relationship Id="rId12" Type="http://schemas.openxmlformats.org/officeDocument/2006/relationships/slide" Target="slides/slide6.xml"/><Relationship Id="rId56" Type="http://schemas.openxmlformats.org/officeDocument/2006/relationships/font" Target="fonts/RobotoMon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8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06825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87325" y="9167813"/>
            <a:ext cx="29098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116263" y="9167813"/>
            <a:ext cx="4635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c-color-msoffice" id="9" name="Google Shape;9;n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9650" y="9148763"/>
            <a:ext cx="528638" cy="58261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/>
          <p:nvPr>
            <p:ph idx="2" type="sldImg"/>
          </p:nvPr>
        </p:nvSpPr>
        <p:spPr>
          <a:xfrm>
            <a:off x="687388" y="7524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907925" y="4687888"/>
            <a:ext cx="49276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 txBox="1"/>
          <p:nvPr>
            <p:ph idx="10" type="dt"/>
          </p:nvPr>
        </p:nvSpPr>
        <p:spPr>
          <a:xfrm>
            <a:off x="3806825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98" name="Google Shape;98;p1:notes"/>
          <p:cNvSpPr txBox="1"/>
          <p:nvPr>
            <p:ph idx="11" type="ftr"/>
          </p:nvPr>
        </p:nvSpPr>
        <p:spPr>
          <a:xfrm>
            <a:off x="187325" y="9167813"/>
            <a:ext cx="29098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116263" y="9167813"/>
            <a:ext cx="4635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7388" y="7524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907925" y="4687888"/>
            <a:ext cx="49276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0" type="dt"/>
          </p:nvPr>
        </p:nvSpPr>
        <p:spPr>
          <a:xfrm>
            <a:off x="3806825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107" name="Google Shape;107;p2:notes"/>
          <p:cNvSpPr txBox="1"/>
          <p:nvPr>
            <p:ph idx="11" type="ftr"/>
          </p:nvPr>
        </p:nvSpPr>
        <p:spPr>
          <a:xfrm>
            <a:off x="187325" y="9167813"/>
            <a:ext cx="29098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108" name="Google Shape;108;p2:notes"/>
          <p:cNvSpPr txBox="1"/>
          <p:nvPr>
            <p:ph idx="12" type="sldNum"/>
          </p:nvPr>
        </p:nvSpPr>
        <p:spPr>
          <a:xfrm>
            <a:off x="3116263" y="9167813"/>
            <a:ext cx="4635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4af8d255a_0_0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4af8d255a_0_0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d4af8d255a_0_0:notes"/>
          <p:cNvSpPr txBox="1"/>
          <p:nvPr>
            <p:ph idx="12" type="sldNum"/>
          </p:nvPr>
        </p:nvSpPr>
        <p:spPr>
          <a:xfrm>
            <a:off x="3116263" y="9167813"/>
            <a:ext cx="463500" cy="49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 txBox="1"/>
          <p:nvPr>
            <p:ph idx="10" type="dt"/>
          </p:nvPr>
        </p:nvSpPr>
        <p:spPr>
          <a:xfrm>
            <a:off x="3806825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121" name="Google Shape;121;p3:notes"/>
          <p:cNvSpPr txBox="1"/>
          <p:nvPr>
            <p:ph idx="11" type="ftr"/>
          </p:nvPr>
        </p:nvSpPr>
        <p:spPr>
          <a:xfrm>
            <a:off x="187325" y="9167813"/>
            <a:ext cx="29098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122" name="Google Shape;122;p3:notes"/>
          <p:cNvSpPr txBox="1"/>
          <p:nvPr>
            <p:ph idx="12" type="sldNum"/>
          </p:nvPr>
        </p:nvSpPr>
        <p:spPr>
          <a:xfrm>
            <a:off x="3116263" y="9167813"/>
            <a:ext cx="4635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d43084bd6_0_3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9" name="Google Shape;129;g3dd43084bd6_0_3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dd43084bd6_0_3:notes"/>
          <p:cNvSpPr txBox="1"/>
          <p:nvPr>
            <p:ph idx="10" type="dt"/>
          </p:nvPr>
        </p:nvSpPr>
        <p:spPr>
          <a:xfrm>
            <a:off x="3806825" y="0"/>
            <a:ext cx="2911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131" name="Google Shape;131;g3dd43084bd6_0_3:notes"/>
          <p:cNvSpPr txBox="1"/>
          <p:nvPr>
            <p:ph idx="11" type="ftr"/>
          </p:nvPr>
        </p:nvSpPr>
        <p:spPr>
          <a:xfrm>
            <a:off x="187325" y="9167813"/>
            <a:ext cx="29100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132" name="Google Shape;132;g3dd43084bd6_0_3:notes"/>
          <p:cNvSpPr txBox="1"/>
          <p:nvPr>
            <p:ph idx="12" type="sldNum"/>
          </p:nvPr>
        </p:nvSpPr>
        <p:spPr>
          <a:xfrm>
            <a:off x="3116263" y="9167813"/>
            <a:ext cx="4635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 txBox="1"/>
          <p:nvPr>
            <p:ph idx="10" type="dt"/>
          </p:nvPr>
        </p:nvSpPr>
        <p:spPr>
          <a:xfrm>
            <a:off x="3806825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141" name="Google Shape;141;p4:notes"/>
          <p:cNvSpPr txBox="1"/>
          <p:nvPr>
            <p:ph idx="11" type="ftr"/>
          </p:nvPr>
        </p:nvSpPr>
        <p:spPr>
          <a:xfrm>
            <a:off x="187325" y="9167813"/>
            <a:ext cx="29098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142" name="Google Shape;142;p4:notes"/>
          <p:cNvSpPr txBox="1"/>
          <p:nvPr>
            <p:ph idx="12" type="sldNum"/>
          </p:nvPr>
        </p:nvSpPr>
        <p:spPr>
          <a:xfrm>
            <a:off x="3116263" y="9167813"/>
            <a:ext cx="4635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0" type="dt"/>
          </p:nvPr>
        </p:nvSpPr>
        <p:spPr>
          <a:xfrm>
            <a:off x="3806825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151" name="Google Shape;151;p5:notes"/>
          <p:cNvSpPr txBox="1"/>
          <p:nvPr>
            <p:ph idx="11" type="ftr"/>
          </p:nvPr>
        </p:nvSpPr>
        <p:spPr>
          <a:xfrm>
            <a:off x="187325" y="9167813"/>
            <a:ext cx="29098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3116263" y="9167813"/>
            <a:ext cx="4635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 txBox="1"/>
          <p:nvPr>
            <p:ph idx="10" type="dt"/>
          </p:nvPr>
        </p:nvSpPr>
        <p:spPr>
          <a:xfrm>
            <a:off x="3806825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161" name="Google Shape;161;p6:notes"/>
          <p:cNvSpPr txBox="1"/>
          <p:nvPr>
            <p:ph idx="11" type="ftr"/>
          </p:nvPr>
        </p:nvSpPr>
        <p:spPr>
          <a:xfrm>
            <a:off x="187325" y="9167813"/>
            <a:ext cx="29098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116263" y="9167813"/>
            <a:ext cx="4635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7388" y="7524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907925" y="4687888"/>
            <a:ext cx="49276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0" type="dt"/>
          </p:nvPr>
        </p:nvSpPr>
        <p:spPr>
          <a:xfrm>
            <a:off x="3806825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170" name="Google Shape;170;p7:notes"/>
          <p:cNvSpPr txBox="1"/>
          <p:nvPr>
            <p:ph idx="11" type="ftr"/>
          </p:nvPr>
        </p:nvSpPr>
        <p:spPr>
          <a:xfrm>
            <a:off x="187325" y="9167813"/>
            <a:ext cx="29098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171" name="Google Shape;171;p7:notes"/>
          <p:cNvSpPr txBox="1"/>
          <p:nvPr>
            <p:ph idx="12" type="sldNum"/>
          </p:nvPr>
        </p:nvSpPr>
        <p:spPr>
          <a:xfrm>
            <a:off x="3116263" y="9167813"/>
            <a:ext cx="4635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 txBox="1"/>
          <p:nvPr>
            <p:ph idx="10" type="dt"/>
          </p:nvPr>
        </p:nvSpPr>
        <p:spPr>
          <a:xfrm>
            <a:off x="3806825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178" name="Google Shape;178;p8:notes"/>
          <p:cNvSpPr txBox="1"/>
          <p:nvPr>
            <p:ph idx="11" type="ftr"/>
          </p:nvPr>
        </p:nvSpPr>
        <p:spPr>
          <a:xfrm>
            <a:off x="187325" y="9167813"/>
            <a:ext cx="29098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116263" y="9167813"/>
            <a:ext cx="4635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d43084bd6_0_22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6" name="Google Shape;186;g3dd43084bd6_0_22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d43084bd6_0_22:notes"/>
          <p:cNvSpPr txBox="1"/>
          <p:nvPr>
            <p:ph idx="10" type="dt"/>
          </p:nvPr>
        </p:nvSpPr>
        <p:spPr>
          <a:xfrm>
            <a:off x="3806825" y="0"/>
            <a:ext cx="2911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188" name="Google Shape;188;g3dd43084bd6_0_22:notes"/>
          <p:cNvSpPr txBox="1"/>
          <p:nvPr>
            <p:ph idx="11" type="ftr"/>
          </p:nvPr>
        </p:nvSpPr>
        <p:spPr>
          <a:xfrm>
            <a:off x="187325" y="9167813"/>
            <a:ext cx="29100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189" name="Google Shape;189;g3dd43084bd6_0_22:notes"/>
          <p:cNvSpPr txBox="1"/>
          <p:nvPr>
            <p:ph idx="12" type="sldNum"/>
          </p:nvPr>
        </p:nvSpPr>
        <p:spPr>
          <a:xfrm>
            <a:off x="3116263" y="9167813"/>
            <a:ext cx="4635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d43084bd6_0_13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6" name="Google Shape;196;g3dd43084bd6_0_13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d43084bd6_0_13:notes"/>
          <p:cNvSpPr txBox="1"/>
          <p:nvPr>
            <p:ph idx="10" type="dt"/>
          </p:nvPr>
        </p:nvSpPr>
        <p:spPr>
          <a:xfrm>
            <a:off x="3806825" y="0"/>
            <a:ext cx="2911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198" name="Google Shape;198;g3dd43084bd6_0_13:notes"/>
          <p:cNvSpPr txBox="1"/>
          <p:nvPr>
            <p:ph idx="11" type="ftr"/>
          </p:nvPr>
        </p:nvSpPr>
        <p:spPr>
          <a:xfrm>
            <a:off x="187325" y="9167813"/>
            <a:ext cx="29100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199" name="Google Shape;199;g3dd43084bd6_0_13:notes"/>
          <p:cNvSpPr txBox="1"/>
          <p:nvPr>
            <p:ph idx="12" type="sldNum"/>
          </p:nvPr>
        </p:nvSpPr>
        <p:spPr>
          <a:xfrm>
            <a:off x="3116263" y="9167813"/>
            <a:ext cx="4635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 txBox="1"/>
          <p:nvPr>
            <p:ph idx="10" type="dt"/>
          </p:nvPr>
        </p:nvSpPr>
        <p:spPr>
          <a:xfrm>
            <a:off x="3806825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208" name="Google Shape;208;p9:notes"/>
          <p:cNvSpPr txBox="1"/>
          <p:nvPr>
            <p:ph idx="11" type="ftr"/>
          </p:nvPr>
        </p:nvSpPr>
        <p:spPr>
          <a:xfrm>
            <a:off x="187325" y="9167813"/>
            <a:ext cx="29098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209" name="Google Shape;209;p9:notes"/>
          <p:cNvSpPr txBox="1"/>
          <p:nvPr>
            <p:ph idx="12" type="sldNum"/>
          </p:nvPr>
        </p:nvSpPr>
        <p:spPr>
          <a:xfrm>
            <a:off x="3116263" y="9167813"/>
            <a:ext cx="4635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6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7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8" name="Google Shape;298;p18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8:notes"/>
          <p:cNvSpPr txBox="1"/>
          <p:nvPr>
            <p:ph idx="10" type="dt"/>
          </p:nvPr>
        </p:nvSpPr>
        <p:spPr>
          <a:xfrm>
            <a:off x="3806825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300" name="Google Shape;300;p18:notes"/>
          <p:cNvSpPr txBox="1"/>
          <p:nvPr>
            <p:ph idx="11" type="ftr"/>
          </p:nvPr>
        </p:nvSpPr>
        <p:spPr>
          <a:xfrm>
            <a:off x="187325" y="9167813"/>
            <a:ext cx="29098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301" name="Google Shape;301;p18:notes"/>
          <p:cNvSpPr txBox="1"/>
          <p:nvPr>
            <p:ph idx="12" type="sldNum"/>
          </p:nvPr>
        </p:nvSpPr>
        <p:spPr>
          <a:xfrm>
            <a:off x="3116263" y="9167813"/>
            <a:ext cx="4635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:notes"/>
          <p:cNvSpPr/>
          <p:nvPr>
            <p:ph idx="2" type="sldImg"/>
          </p:nvPr>
        </p:nvSpPr>
        <p:spPr>
          <a:xfrm>
            <a:off x="687388" y="7524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8" name="Google Shape;308;p31:notes"/>
          <p:cNvSpPr txBox="1"/>
          <p:nvPr>
            <p:ph idx="1" type="body"/>
          </p:nvPr>
        </p:nvSpPr>
        <p:spPr>
          <a:xfrm>
            <a:off x="907925" y="4687888"/>
            <a:ext cx="49276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1:notes"/>
          <p:cNvSpPr txBox="1"/>
          <p:nvPr>
            <p:ph idx="10" type="dt"/>
          </p:nvPr>
        </p:nvSpPr>
        <p:spPr>
          <a:xfrm>
            <a:off x="3806825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310" name="Google Shape;310;p31:notes"/>
          <p:cNvSpPr txBox="1"/>
          <p:nvPr>
            <p:ph idx="11" type="ftr"/>
          </p:nvPr>
        </p:nvSpPr>
        <p:spPr>
          <a:xfrm>
            <a:off x="187325" y="9167813"/>
            <a:ext cx="29098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311" name="Google Shape;311;p31:notes"/>
          <p:cNvSpPr txBox="1"/>
          <p:nvPr>
            <p:ph idx="12" type="sldNum"/>
          </p:nvPr>
        </p:nvSpPr>
        <p:spPr>
          <a:xfrm>
            <a:off x="3116263" y="9167813"/>
            <a:ext cx="4635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6" name="Google Shape;316;p32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2:notes"/>
          <p:cNvSpPr txBox="1"/>
          <p:nvPr>
            <p:ph idx="10" type="dt"/>
          </p:nvPr>
        </p:nvSpPr>
        <p:spPr>
          <a:xfrm>
            <a:off x="3806825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318" name="Google Shape;318;p32:notes"/>
          <p:cNvSpPr txBox="1"/>
          <p:nvPr>
            <p:ph idx="11" type="ftr"/>
          </p:nvPr>
        </p:nvSpPr>
        <p:spPr>
          <a:xfrm>
            <a:off x="187325" y="9167813"/>
            <a:ext cx="29098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319" name="Google Shape;319;p32:notes"/>
          <p:cNvSpPr txBox="1"/>
          <p:nvPr>
            <p:ph idx="12" type="sldNum"/>
          </p:nvPr>
        </p:nvSpPr>
        <p:spPr>
          <a:xfrm>
            <a:off x="3116263" y="9167813"/>
            <a:ext cx="4635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6" name="Google Shape;326;p33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3:notes"/>
          <p:cNvSpPr txBox="1"/>
          <p:nvPr>
            <p:ph idx="10" type="dt"/>
          </p:nvPr>
        </p:nvSpPr>
        <p:spPr>
          <a:xfrm>
            <a:off x="3806825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328" name="Google Shape;328;p33:notes"/>
          <p:cNvSpPr txBox="1"/>
          <p:nvPr>
            <p:ph idx="11" type="ftr"/>
          </p:nvPr>
        </p:nvSpPr>
        <p:spPr>
          <a:xfrm>
            <a:off x="187325" y="9167813"/>
            <a:ext cx="29098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329" name="Google Shape;329;p33:notes"/>
          <p:cNvSpPr txBox="1"/>
          <p:nvPr>
            <p:ph idx="12" type="sldNum"/>
          </p:nvPr>
        </p:nvSpPr>
        <p:spPr>
          <a:xfrm>
            <a:off x="3116263" y="9167813"/>
            <a:ext cx="4635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36" name="Google Shape;336;p34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4:notes"/>
          <p:cNvSpPr txBox="1"/>
          <p:nvPr>
            <p:ph idx="10" type="dt"/>
          </p:nvPr>
        </p:nvSpPr>
        <p:spPr>
          <a:xfrm>
            <a:off x="3806825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338" name="Google Shape;338;p34:notes"/>
          <p:cNvSpPr txBox="1"/>
          <p:nvPr>
            <p:ph idx="11" type="ftr"/>
          </p:nvPr>
        </p:nvSpPr>
        <p:spPr>
          <a:xfrm>
            <a:off x="187325" y="9167813"/>
            <a:ext cx="29098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339" name="Google Shape;339;p34:notes"/>
          <p:cNvSpPr txBox="1"/>
          <p:nvPr>
            <p:ph idx="12" type="sldNum"/>
          </p:nvPr>
        </p:nvSpPr>
        <p:spPr>
          <a:xfrm>
            <a:off x="3116263" y="9167813"/>
            <a:ext cx="4635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6" name="Google Shape;346;p35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5:notes"/>
          <p:cNvSpPr txBox="1"/>
          <p:nvPr>
            <p:ph idx="10" type="dt"/>
          </p:nvPr>
        </p:nvSpPr>
        <p:spPr>
          <a:xfrm>
            <a:off x="3806825" y="0"/>
            <a:ext cx="2911475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348" name="Google Shape;348;p35:notes"/>
          <p:cNvSpPr txBox="1"/>
          <p:nvPr>
            <p:ph idx="11" type="ftr"/>
          </p:nvPr>
        </p:nvSpPr>
        <p:spPr>
          <a:xfrm>
            <a:off x="187325" y="9167813"/>
            <a:ext cx="29098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349" name="Google Shape;349;p35:notes"/>
          <p:cNvSpPr txBox="1"/>
          <p:nvPr>
            <p:ph idx="12" type="sldNum"/>
          </p:nvPr>
        </p:nvSpPr>
        <p:spPr>
          <a:xfrm>
            <a:off x="3116263" y="9167813"/>
            <a:ext cx="4635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4aab0781f_1_0:notes"/>
          <p:cNvSpPr/>
          <p:nvPr>
            <p:ph idx="2" type="sldImg"/>
          </p:nvPr>
        </p:nvSpPr>
        <p:spPr>
          <a:xfrm>
            <a:off x="687388" y="7524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6" name="Google Shape;356;g3d4aab0781f_1_0:notes"/>
          <p:cNvSpPr txBox="1"/>
          <p:nvPr>
            <p:ph idx="1" type="body"/>
          </p:nvPr>
        </p:nvSpPr>
        <p:spPr>
          <a:xfrm>
            <a:off x="907925" y="4687888"/>
            <a:ext cx="49275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d4aab0781f_1_0:notes"/>
          <p:cNvSpPr txBox="1"/>
          <p:nvPr>
            <p:ph idx="10" type="dt"/>
          </p:nvPr>
        </p:nvSpPr>
        <p:spPr>
          <a:xfrm>
            <a:off x="3806825" y="0"/>
            <a:ext cx="2911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358" name="Google Shape;358;g3d4aab0781f_1_0:notes"/>
          <p:cNvSpPr txBox="1"/>
          <p:nvPr>
            <p:ph idx="11" type="ftr"/>
          </p:nvPr>
        </p:nvSpPr>
        <p:spPr>
          <a:xfrm>
            <a:off x="187325" y="9167813"/>
            <a:ext cx="29100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359" name="Google Shape;359;g3d4aab0781f_1_0:notes"/>
          <p:cNvSpPr txBox="1"/>
          <p:nvPr>
            <p:ph idx="12" type="sldNum"/>
          </p:nvPr>
        </p:nvSpPr>
        <p:spPr>
          <a:xfrm>
            <a:off x="3116263" y="9167813"/>
            <a:ext cx="4635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4aab0781f_1_7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d4aab0781f_1_7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4aab0781f_1_12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d4aab0781f_1_12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4aab0781f_1_17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d4aab0781f_1_17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d4aab0781f_1_22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d4aab0781f_1_22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d4aab0781f_1_27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d4aab0781f_1_27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d4aab0781f_1_32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d4aab0781f_1_32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4aab0781f_1_37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d4aab0781f_1_37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4aab0781f_1_42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d4aab0781f_1_42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d4aab0781f_1_47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d4aab0781f_1_47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4aab0781f_1_52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d4aab0781f_1_52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48494d9e9_0_10:notes"/>
          <p:cNvSpPr/>
          <p:nvPr>
            <p:ph idx="2" type="sldImg"/>
          </p:nvPr>
        </p:nvSpPr>
        <p:spPr>
          <a:xfrm>
            <a:off x="687388" y="7524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4" name="Google Shape;424;g3d48494d9e9_0_10:notes"/>
          <p:cNvSpPr txBox="1"/>
          <p:nvPr>
            <p:ph idx="1" type="body"/>
          </p:nvPr>
        </p:nvSpPr>
        <p:spPr>
          <a:xfrm>
            <a:off x="907925" y="4687888"/>
            <a:ext cx="49275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d48494d9e9_0_10:notes"/>
          <p:cNvSpPr txBox="1"/>
          <p:nvPr>
            <p:ph idx="10" type="dt"/>
          </p:nvPr>
        </p:nvSpPr>
        <p:spPr>
          <a:xfrm>
            <a:off x="3806825" y="0"/>
            <a:ext cx="2911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426" name="Google Shape;426;g3d48494d9e9_0_10:notes"/>
          <p:cNvSpPr txBox="1"/>
          <p:nvPr>
            <p:ph idx="11" type="ftr"/>
          </p:nvPr>
        </p:nvSpPr>
        <p:spPr>
          <a:xfrm>
            <a:off x="187325" y="9167813"/>
            <a:ext cx="29100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427" name="Google Shape;427;g3d48494d9e9_0_10:notes"/>
          <p:cNvSpPr txBox="1"/>
          <p:nvPr>
            <p:ph idx="12" type="sldNum"/>
          </p:nvPr>
        </p:nvSpPr>
        <p:spPr>
          <a:xfrm>
            <a:off x="3116263" y="9167813"/>
            <a:ext cx="4635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4960c7988_0_20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32" name="Google Shape;432;g3d4960c7988_0_20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d4960c7988_0_20:notes"/>
          <p:cNvSpPr txBox="1"/>
          <p:nvPr>
            <p:ph idx="10" type="dt"/>
          </p:nvPr>
        </p:nvSpPr>
        <p:spPr>
          <a:xfrm>
            <a:off x="3806825" y="0"/>
            <a:ext cx="2911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434" name="Google Shape;434;g3d4960c7988_0_20:notes"/>
          <p:cNvSpPr txBox="1"/>
          <p:nvPr>
            <p:ph idx="11" type="ftr"/>
          </p:nvPr>
        </p:nvSpPr>
        <p:spPr>
          <a:xfrm>
            <a:off x="187325" y="9167813"/>
            <a:ext cx="29100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435" name="Google Shape;435;g3d4960c7988_0_20:notes"/>
          <p:cNvSpPr txBox="1"/>
          <p:nvPr>
            <p:ph idx="12" type="sldNum"/>
          </p:nvPr>
        </p:nvSpPr>
        <p:spPr>
          <a:xfrm>
            <a:off x="3116263" y="9167813"/>
            <a:ext cx="4635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4960c7988_0_56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2" name="Google Shape;442;g3d4960c7988_0_56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d4960c7988_0_56:notes"/>
          <p:cNvSpPr txBox="1"/>
          <p:nvPr>
            <p:ph idx="10" type="dt"/>
          </p:nvPr>
        </p:nvSpPr>
        <p:spPr>
          <a:xfrm>
            <a:off x="3806825" y="0"/>
            <a:ext cx="2911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444" name="Google Shape;444;g3d4960c7988_0_56:notes"/>
          <p:cNvSpPr txBox="1"/>
          <p:nvPr>
            <p:ph idx="11" type="ftr"/>
          </p:nvPr>
        </p:nvSpPr>
        <p:spPr>
          <a:xfrm>
            <a:off x="187325" y="9167813"/>
            <a:ext cx="29100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445" name="Google Shape;445;g3d4960c7988_0_56:notes"/>
          <p:cNvSpPr txBox="1"/>
          <p:nvPr>
            <p:ph idx="12" type="sldNum"/>
          </p:nvPr>
        </p:nvSpPr>
        <p:spPr>
          <a:xfrm>
            <a:off x="3116263" y="9167813"/>
            <a:ext cx="4635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d4960c7988_0_2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53" name="Google Shape;453;g3d4960c7988_0_2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d4960c7988_0_2:notes"/>
          <p:cNvSpPr txBox="1"/>
          <p:nvPr>
            <p:ph idx="10" type="dt"/>
          </p:nvPr>
        </p:nvSpPr>
        <p:spPr>
          <a:xfrm>
            <a:off x="3806825" y="0"/>
            <a:ext cx="2911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455" name="Google Shape;455;g3d4960c7988_0_2:notes"/>
          <p:cNvSpPr txBox="1"/>
          <p:nvPr>
            <p:ph idx="11" type="ftr"/>
          </p:nvPr>
        </p:nvSpPr>
        <p:spPr>
          <a:xfrm>
            <a:off x="187325" y="9167813"/>
            <a:ext cx="29100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456" name="Google Shape;456;g3d4960c7988_0_2:notes"/>
          <p:cNvSpPr txBox="1"/>
          <p:nvPr>
            <p:ph idx="12" type="sldNum"/>
          </p:nvPr>
        </p:nvSpPr>
        <p:spPr>
          <a:xfrm>
            <a:off x="3116263" y="9167813"/>
            <a:ext cx="4635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d4960c7988_0_36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67" name="Google Shape;467;g3d4960c7988_0_36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3d4960c7988_0_36:notes"/>
          <p:cNvSpPr txBox="1"/>
          <p:nvPr>
            <p:ph idx="10" type="dt"/>
          </p:nvPr>
        </p:nvSpPr>
        <p:spPr>
          <a:xfrm>
            <a:off x="3806825" y="0"/>
            <a:ext cx="2911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469" name="Google Shape;469;g3d4960c7988_0_36:notes"/>
          <p:cNvSpPr txBox="1"/>
          <p:nvPr>
            <p:ph idx="11" type="ftr"/>
          </p:nvPr>
        </p:nvSpPr>
        <p:spPr>
          <a:xfrm>
            <a:off x="187325" y="9167813"/>
            <a:ext cx="29100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470" name="Google Shape;470;g3d4960c7988_0_36:notes"/>
          <p:cNvSpPr txBox="1"/>
          <p:nvPr>
            <p:ph idx="12" type="sldNum"/>
          </p:nvPr>
        </p:nvSpPr>
        <p:spPr>
          <a:xfrm>
            <a:off x="3116263" y="9167813"/>
            <a:ext cx="4635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45dd31d3a_0_0:notes"/>
          <p:cNvSpPr/>
          <p:nvPr>
            <p:ph idx="2" type="sldImg"/>
          </p:nvPr>
        </p:nvSpPr>
        <p:spPr>
          <a:xfrm>
            <a:off x="687388" y="7524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81" name="Google Shape;481;g3d45dd31d3a_0_0:notes"/>
          <p:cNvSpPr txBox="1"/>
          <p:nvPr>
            <p:ph idx="1" type="body"/>
          </p:nvPr>
        </p:nvSpPr>
        <p:spPr>
          <a:xfrm>
            <a:off x="907925" y="4687888"/>
            <a:ext cx="49275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d45dd31d3a_0_0:notes"/>
          <p:cNvSpPr txBox="1"/>
          <p:nvPr>
            <p:ph idx="10" type="dt"/>
          </p:nvPr>
        </p:nvSpPr>
        <p:spPr>
          <a:xfrm>
            <a:off x="3806825" y="0"/>
            <a:ext cx="2911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23/3/2026</a:t>
            </a:r>
            <a:endParaRPr/>
          </a:p>
        </p:txBody>
      </p:sp>
      <p:sp>
        <p:nvSpPr>
          <p:cNvPr id="483" name="Google Shape;483;g3d45dd31d3a_0_0:notes"/>
          <p:cNvSpPr txBox="1"/>
          <p:nvPr>
            <p:ph idx="11" type="ftr"/>
          </p:nvPr>
        </p:nvSpPr>
        <p:spPr>
          <a:xfrm>
            <a:off x="187325" y="9167813"/>
            <a:ext cx="29100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Enter here your Presentation Title</a:t>
            </a:r>
            <a:endParaRPr/>
          </a:p>
        </p:txBody>
      </p:sp>
      <p:sp>
        <p:nvSpPr>
          <p:cNvPr id="484" name="Google Shape;484;g3d45dd31d3a_0_0:notes"/>
          <p:cNvSpPr txBox="1"/>
          <p:nvPr>
            <p:ph idx="12" type="sldNum"/>
          </p:nvPr>
        </p:nvSpPr>
        <p:spPr>
          <a:xfrm>
            <a:off x="3116263" y="9167813"/>
            <a:ext cx="4635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d4960c7988_3_6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d4960c7988_3_6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d4960c7988_3_6:notes"/>
          <p:cNvSpPr txBox="1"/>
          <p:nvPr>
            <p:ph idx="12" type="sldNum"/>
          </p:nvPr>
        </p:nvSpPr>
        <p:spPr>
          <a:xfrm>
            <a:off x="3116263" y="9167813"/>
            <a:ext cx="463500" cy="49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4960c7988_3_14:notes"/>
          <p:cNvSpPr/>
          <p:nvPr>
            <p:ph idx="2" type="sldImg"/>
          </p:nvPr>
        </p:nvSpPr>
        <p:spPr>
          <a:xfrm>
            <a:off x="687388" y="739775"/>
            <a:ext cx="53436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d4960c7988_3_14:notes"/>
          <p:cNvSpPr txBox="1"/>
          <p:nvPr>
            <p:ph idx="1" type="body"/>
          </p:nvPr>
        </p:nvSpPr>
        <p:spPr>
          <a:xfrm>
            <a:off x="895350" y="4687888"/>
            <a:ext cx="49275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d4960c7988_3_14:notes"/>
          <p:cNvSpPr txBox="1"/>
          <p:nvPr>
            <p:ph idx="12" type="sldNum"/>
          </p:nvPr>
        </p:nvSpPr>
        <p:spPr>
          <a:xfrm>
            <a:off x="3116263" y="9167813"/>
            <a:ext cx="463500" cy="49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6:notes"/>
          <p:cNvSpPr txBox="1"/>
          <p:nvPr>
            <p:ph idx="1" type="body"/>
          </p:nvPr>
        </p:nvSpPr>
        <p:spPr>
          <a:xfrm>
            <a:off x="895350" y="4687888"/>
            <a:ext cx="4927600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6:notes"/>
          <p:cNvSpPr/>
          <p:nvPr>
            <p:ph idx="2" type="sldImg"/>
          </p:nvPr>
        </p:nvSpPr>
        <p:spPr>
          <a:xfrm>
            <a:off x="687388" y="739775"/>
            <a:ext cx="5343525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itel - bg - ecl logo_low"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>
            <p:ph type="ctrTitle"/>
          </p:nvPr>
        </p:nvSpPr>
        <p:spPr>
          <a:xfrm>
            <a:off x="271727" y="2014539"/>
            <a:ext cx="8420100" cy="936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271728" y="2951163"/>
            <a:ext cx="842526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logo2.png" id="21" name="Google Shape;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966" y="6046382"/>
            <a:ext cx="1282700" cy="39554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/>
          <p:nvPr/>
        </p:nvSpPr>
        <p:spPr>
          <a:xfrm>
            <a:off x="4526561" y="6493225"/>
            <a:ext cx="5001690" cy="2462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rPr>
              <a:t>@2023, University of Science HCMC - Advanced Program in Computer Science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1676798" y="609600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742950" y="1981200"/>
            <a:ext cx="8420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7099300" y="6343650"/>
            <a:ext cx="206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7099300" y="6343650"/>
            <a:ext cx="206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7099300" y="6343650"/>
            <a:ext cx="206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1676798" y="609600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742950" y="1981200"/>
            <a:ext cx="41275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5035550" y="1981200"/>
            <a:ext cx="41275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099300" y="6343650"/>
            <a:ext cx="206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7099300" y="6343650"/>
            <a:ext cx="206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1676798" y="609600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7099300" y="6343650"/>
            <a:ext cx="206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7099300" y="6343650"/>
            <a:ext cx="206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/>
          <p:nvPr>
            <p:ph idx="2" type="pic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7099300" y="6343650"/>
            <a:ext cx="206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1676798" y="609600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 rot="5400000">
            <a:off x="2895600" y="-171450"/>
            <a:ext cx="4114800" cy="8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7099300" y="6343650"/>
            <a:ext cx="206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/>
          <p:nvPr>
            <p:ph type="title"/>
          </p:nvPr>
        </p:nvSpPr>
        <p:spPr>
          <a:xfrm rot="5400000">
            <a:off x="5367338" y="2300288"/>
            <a:ext cx="5486400" cy="210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" type="body"/>
          </p:nvPr>
        </p:nvSpPr>
        <p:spPr>
          <a:xfrm rot="5400000">
            <a:off x="1074738" y="277813"/>
            <a:ext cx="5486400" cy="6149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7099300" y="6343650"/>
            <a:ext cx="206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iagram or Organization Chart" type="dgm">
  <p:cSld name="DIAGRAM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>
            <a:off x="1676798" y="609600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/>
          <p:nvPr>
            <p:ph idx="2" type="dgm"/>
          </p:nvPr>
        </p:nvSpPr>
        <p:spPr>
          <a:xfrm>
            <a:off x="742950" y="1981200"/>
            <a:ext cx="8420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7099300" y="6343650"/>
            <a:ext cx="206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title"/>
          </p:nvPr>
        </p:nvSpPr>
        <p:spPr>
          <a:xfrm>
            <a:off x="1676798" y="609600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742950" y="1981200"/>
            <a:ext cx="41275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2" type="body"/>
          </p:nvPr>
        </p:nvSpPr>
        <p:spPr>
          <a:xfrm>
            <a:off x="5035550" y="1981200"/>
            <a:ext cx="41275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3" type="body"/>
          </p:nvPr>
        </p:nvSpPr>
        <p:spPr>
          <a:xfrm>
            <a:off x="5035550" y="4114800"/>
            <a:ext cx="41275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7099300" y="6343650"/>
            <a:ext cx="206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1676798" y="609600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742950" y="1981200"/>
            <a:ext cx="41275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5"/>
          <p:cNvSpPr txBox="1"/>
          <p:nvPr>
            <p:ph idx="2" type="body"/>
          </p:nvPr>
        </p:nvSpPr>
        <p:spPr>
          <a:xfrm>
            <a:off x="5035550" y="1981200"/>
            <a:ext cx="41275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7099300" y="6343650"/>
            <a:ext cx="206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4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/>
          <p:nvPr>
            <p:ph type="title"/>
          </p:nvPr>
        </p:nvSpPr>
        <p:spPr>
          <a:xfrm>
            <a:off x="1676798" y="609600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742950" y="1981200"/>
            <a:ext cx="8420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7099300" y="6343650"/>
            <a:ext cx="206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i="0" sz="1000" u="none" cap="none" strike="noStrike">
                <a:solidFill>
                  <a:srgbClr val="B4BA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xt slide - light - ecl logo_low" id="15" name="Google Shape;15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9060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2.png" id="16" name="Google Shape;16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599" y="366453"/>
            <a:ext cx="1282700" cy="39554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ctrTitle"/>
          </p:nvPr>
        </p:nvSpPr>
        <p:spPr>
          <a:xfrm>
            <a:off x="1066800" y="1592318"/>
            <a:ext cx="7772400" cy="936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TREAP</a:t>
            </a:r>
            <a:endParaRPr b="1" sz="3200"/>
          </a:p>
        </p:txBody>
      </p:sp>
      <p:sp>
        <p:nvSpPr>
          <p:cNvPr id="102" name="Google Shape;102;p16"/>
          <p:cNvSpPr txBox="1"/>
          <p:nvPr/>
        </p:nvSpPr>
        <p:spPr>
          <a:xfrm>
            <a:off x="5884125" y="4037675"/>
            <a:ext cx="3754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25125039 - Nguyễn Lê Trân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25125065 - Bùi Viết Thành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25125071 - Lê Quỳnh Anh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</a:rPr>
              <a:t>25125078 - Đinh Nguyễn Hồng Ánh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ctrTitle"/>
          </p:nvPr>
        </p:nvSpPr>
        <p:spPr>
          <a:xfrm>
            <a:off x="1066800" y="1885616"/>
            <a:ext cx="7772400" cy="936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Definition and History</a:t>
            </a:r>
            <a:endParaRPr b="1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-2" y="2650000"/>
            <a:ext cx="74862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TREAP = TREE + HEAP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995310" y="1058174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Definition</a:t>
            </a:r>
            <a:endParaRPr/>
          </a:p>
        </p:txBody>
      </p:sp>
      <p:sp>
        <p:nvSpPr>
          <p:cNvPr id="125" name="Google Shape;125;p19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995310" y="1871931"/>
            <a:ext cx="7984788" cy="1682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treap is a randomized binary search tree in which each node stores two values in the set of (X, Y):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 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(X value)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used to maintain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binary-search-tree (BST)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ordering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 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priority (Y value)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chosen randomly at insertion time and used to maintain 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heap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ordering.</a:t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995310" y="1058174"/>
            <a:ext cx="748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Definition</a:t>
            </a:r>
            <a:endParaRPr/>
          </a:p>
        </p:txBody>
      </p:sp>
      <p:sp>
        <p:nvSpPr>
          <p:cNvPr id="135" name="Google Shape;135;p20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5251" y="1959074"/>
            <a:ext cx="5155499" cy="394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995310" y="1058174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Historical notes</a:t>
            </a:r>
            <a:endParaRPr/>
          </a:p>
        </p:txBody>
      </p:sp>
      <p:sp>
        <p:nvSpPr>
          <p:cNvPr id="145" name="Google Shape;145;p21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146" name="Google Shape;146;p21"/>
          <p:cNvSpPr txBox="1"/>
          <p:nvPr/>
        </p:nvSpPr>
        <p:spPr>
          <a:xfrm>
            <a:off x="995310" y="1871931"/>
            <a:ext cx="7984788" cy="1682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Treaps were introduced by Seidel and Aragon (1989) under the name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randomized search trees.</a:t>
            </a:r>
            <a:endParaRPr b="1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-41694" y="2857500"/>
            <a:ext cx="998938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Balanced Search Tree (AVL, Red-Black) vs. Treap</a:t>
            </a:r>
            <a:endParaRPr/>
          </a:p>
        </p:txBody>
      </p:sp>
      <p:sp>
        <p:nvSpPr>
          <p:cNvPr id="155" name="Google Shape;155;p22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1209873" y="3429000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in their performances to achieve balance?</a:t>
            </a:r>
            <a:endParaRPr b="0" i="0" sz="3000" u="none" cap="none" strike="noStrike">
              <a:solidFill>
                <a:srgbClr val="0033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graphicFrame>
        <p:nvGraphicFramePr>
          <p:cNvPr id="165" name="Google Shape;165;p23"/>
          <p:cNvGraphicFramePr/>
          <p:nvPr/>
        </p:nvGraphicFramePr>
        <p:xfrm>
          <a:off x="644105" y="25992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{608042CC-0950-4BF5-A612-6E98E5844FFD}</a:tableStyleId>
              </a:tblPr>
              <a:tblGrid>
                <a:gridCol w="4308900"/>
                <a:gridCol w="4308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Balanced Search Tree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Treap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Achieve balance by maintaining </a:t>
                      </a:r>
                      <a:r>
                        <a:rPr b="1" lang="en-US" sz="2400" u="none" cap="none" strike="noStrike"/>
                        <a:t>strict structural constraints </a:t>
                      </a:r>
                      <a:r>
                        <a:rPr b="0" lang="en-US" sz="2400" u="none" cap="none" strike="noStrike"/>
                        <a:t>(balance factor and coloring rules)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Achieve balance in expectation through </a:t>
                      </a:r>
                      <a:r>
                        <a:rPr b="1" lang="en-US" sz="2400" u="none" cap="none" strike="noStrike"/>
                        <a:t>randomization</a:t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ctrTitle"/>
          </p:nvPr>
        </p:nvSpPr>
        <p:spPr>
          <a:xfrm>
            <a:off x="1066800" y="1885616"/>
            <a:ext cx="7772400" cy="936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Core Data Structure</a:t>
            </a:r>
            <a:endParaRPr b="1"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917673" y="1006415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Split</a:t>
            </a:r>
            <a:endParaRPr/>
          </a:p>
        </p:txBody>
      </p:sp>
      <p:sp>
        <p:nvSpPr>
          <p:cNvPr id="182" name="Google Shape;182;p25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pic>
        <p:nvPicPr>
          <p:cNvPr id="183" name="Google Shape;18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49415"/>
            <a:ext cx="9601200" cy="3660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917673" y="1006415"/>
            <a:ext cx="748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Split – pseudocode</a:t>
            </a:r>
            <a:endParaRPr/>
          </a:p>
        </p:txBody>
      </p:sp>
      <p:sp>
        <p:nvSpPr>
          <p:cNvPr id="192" name="Google Shape;192;p26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pic>
        <p:nvPicPr>
          <p:cNvPr id="193" name="Google Shape;193;p26"/>
          <p:cNvPicPr preferRelativeResize="0"/>
          <p:nvPr/>
        </p:nvPicPr>
        <p:blipFill rotWithShape="1">
          <a:blip r:embed="rId3">
            <a:alphaModFix/>
          </a:blip>
          <a:srcRect b="0" l="0" r="32254" t="0"/>
          <a:stretch/>
        </p:blipFill>
        <p:spPr>
          <a:xfrm>
            <a:off x="1066687" y="1528553"/>
            <a:ext cx="7188223" cy="4765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917673" y="1006415"/>
            <a:ext cx="748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Merge</a:t>
            </a:r>
            <a:endParaRPr/>
          </a:p>
        </p:txBody>
      </p:sp>
      <p:sp>
        <p:nvSpPr>
          <p:cNvPr id="202" name="Google Shape;202;p27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pic>
        <p:nvPicPr>
          <p:cNvPr id="203" name="Google Shape;20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01815"/>
            <a:ext cx="9601200" cy="3315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/>
          <p:nvPr>
            <p:ph type="title"/>
          </p:nvPr>
        </p:nvSpPr>
        <p:spPr>
          <a:xfrm>
            <a:off x="917673" y="1006415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Merge – pseudocode</a:t>
            </a:r>
            <a:endParaRPr/>
          </a:p>
        </p:txBody>
      </p:sp>
      <p:sp>
        <p:nvSpPr>
          <p:cNvPr id="212" name="Google Shape;212;p28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pic>
        <p:nvPicPr>
          <p:cNvPr id="213" name="Google Shape;21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061" y="1756690"/>
            <a:ext cx="9203878" cy="4235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>
            <p:ph type="title"/>
          </p:nvPr>
        </p:nvSpPr>
        <p:spPr>
          <a:xfrm>
            <a:off x="845389" y="877019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219" name="Google Shape;219;p29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220" name="Google Shape;220;p29"/>
          <p:cNvSpPr/>
          <p:nvPr/>
        </p:nvSpPr>
        <p:spPr>
          <a:xfrm>
            <a:off x="845389" y="1639019"/>
            <a:ext cx="1992702" cy="1069675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3542581" y="2347829"/>
            <a:ext cx="2820838" cy="72173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Treap T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keys = {1, 2, 4, 7}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845389" y="877019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227" name="Google Shape;227;p30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228" name="Google Shape;228;p30"/>
          <p:cNvSpPr/>
          <p:nvPr/>
        </p:nvSpPr>
        <p:spPr>
          <a:xfrm>
            <a:off x="845389" y="1639019"/>
            <a:ext cx="1992702" cy="1069675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5103963" y="2805029"/>
            <a:ext cx="2820838" cy="72173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Treap T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keys = {1, 2, 4, 7}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0"/>
          <p:cNvSpPr/>
          <p:nvPr/>
        </p:nvSpPr>
        <p:spPr>
          <a:xfrm>
            <a:off x="1821702" y="2805029"/>
            <a:ext cx="802257" cy="8022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30"/>
          <p:cNvCxnSpPr>
            <a:stCxn id="230" idx="6"/>
            <a:endCxn id="229" idx="1"/>
          </p:cNvCxnSpPr>
          <p:nvPr/>
        </p:nvCxnSpPr>
        <p:spPr>
          <a:xfrm flipH="1" rot="10800000">
            <a:off x="2623959" y="3165958"/>
            <a:ext cx="2480100" cy="40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2" name="Google Shape;232;p30"/>
          <p:cNvSpPr txBox="1"/>
          <p:nvPr/>
        </p:nvSpPr>
        <p:spPr>
          <a:xfrm>
            <a:off x="2037364" y="3017835"/>
            <a:ext cx="301924" cy="437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type="title"/>
          </p:nvPr>
        </p:nvSpPr>
        <p:spPr>
          <a:xfrm>
            <a:off x="845389" y="877019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238" name="Google Shape;238;p31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239" name="Google Shape;239;p31"/>
          <p:cNvSpPr/>
          <p:nvPr/>
        </p:nvSpPr>
        <p:spPr>
          <a:xfrm>
            <a:off x="7172828" y="3972842"/>
            <a:ext cx="1158814" cy="92158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= {7}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1"/>
          <p:cNvSpPr/>
          <p:nvPr/>
        </p:nvSpPr>
        <p:spPr>
          <a:xfrm>
            <a:off x="3542581" y="2091201"/>
            <a:ext cx="2820838" cy="72173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 T by k = 5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(L,R)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1"/>
          <p:cNvSpPr/>
          <p:nvPr/>
        </p:nvSpPr>
        <p:spPr>
          <a:xfrm>
            <a:off x="1540589" y="4109794"/>
            <a:ext cx="1574323" cy="80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 =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{1, 2, 4}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4270758" y="3747844"/>
            <a:ext cx="1574323" cy="137157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Node N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random priority p)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p31"/>
          <p:cNvCxnSpPr>
            <a:stCxn id="240" idx="2"/>
            <a:endCxn id="241" idx="0"/>
          </p:cNvCxnSpPr>
          <p:nvPr/>
        </p:nvCxnSpPr>
        <p:spPr>
          <a:xfrm flipH="1">
            <a:off x="2327700" y="2812931"/>
            <a:ext cx="2625300" cy="129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" name="Google Shape;244;p31"/>
          <p:cNvCxnSpPr>
            <a:stCxn id="240" idx="2"/>
            <a:endCxn id="242" idx="0"/>
          </p:cNvCxnSpPr>
          <p:nvPr/>
        </p:nvCxnSpPr>
        <p:spPr>
          <a:xfrm>
            <a:off x="4953000" y="2812931"/>
            <a:ext cx="105000" cy="93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" name="Google Shape;245;p31"/>
          <p:cNvCxnSpPr>
            <a:stCxn id="240" idx="2"/>
            <a:endCxn id="239" idx="0"/>
          </p:cNvCxnSpPr>
          <p:nvPr/>
        </p:nvCxnSpPr>
        <p:spPr>
          <a:xfrm>
            <a:off x="4953000" y="2812931"/>
            <a:ext cx="2799300" cy="1159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type="title"/>
          </p:nvPr>
        </p:nvSpPr>
        <p:spPr>
          <a:xfrm>
            <a:off x="845389" y="877019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251" name="Google Shape;251;p32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252" name="Google Shape;252;p32"/>
          <p:cNvSpPr/>
          <p:nvPr/>
        </p:nvSpPr>
        <p:spPr>
          <a:xfrm>
            <a:off x="7172828" y="2324858"/>
            <a:ext cx="1158814" cy="92158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= {7}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2"/>
          <p:cNvSpPr/>
          <p:nvPr/>
        </p:nvSpPr>
        <p:spPr>
          <a:xfrm>
            <a:off x="1540589" y="2461810"/>
            <a:ext cx="1574323" cy="80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 =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{1, 2, 4}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2"/>
          <p:cNvSpPr/>
          <p:nvPr/>
        </p:nvSpPr>
        <p:spPr>
          <a:xfrm>
            <a:off x="4270758" y="2099860"/>
            <a:ext cx="1574323" cy="137157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Node N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 random priority p)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2871339" y="4482888"/>
            <a:ext cx="1574323" cy="80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(L, N)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" name="Google Shape;256;p32"/>
          <p:cNvCxnSpPr>
            <a:stCxn id="253" idx="2"/>
            <a:endCxn id="255" idx="0"/>
          </p:cNvCxnSpPr>
          <p:nvPr/>
        </p:nvCxnSpPr>
        <p:spPr>
          <a:xfrm>
            <a:off x="2327750" y="3261910"/>
            <a:ext cx="1330800" cy="122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" name="Google Shape;257;p32"/>
          <p:cNvCxnSpPr>
            <a:stCxn id="254" idx="2"/>
            <a:endCxn id="255" idx="0"/>
          </p:cNvCxnSpPr>
          <p:nvPr/>
        </p:nvCxnSpPr>
        <p:spPr>
          <a:xfrm flipH="1">
            <a:off x="3658420" y="3471439"/>
            <a:ext cx="1399500" cy="101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title"/>
          </p:nvPr>
        </p:nvSpPr>
        <p:spPr>
          <a:xfrm>
            <a:off x="845389" y="877019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Insertion</a:t>
            </a:r>
            <a:endParaRPr/>
          </a:p>
        </p:txBody>
      </p:sp>
      <p:sp>
        <p:nvSpPr>
          <p:cNvPr id="263" name="Google Shape;263;p33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264" name="Google Shape;264;p33"/>
          <p:cNvSpPr/>
          <p:nvPr/>
        </p:nvSpPr>
        <p:spPr>
          <a:xfrm>
            <a:off x="6223923" y="1915907"/>
            <a:ext cx="1158814" cy="92158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= {7}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3"/>
          <p:cNvSpPr/>
          <p:nvPr/>
        </p:nvSpPr>
        <p:spPr>
          <a:xfrm>
            <a:off x="2086335" y="2037389"/>
            <a:ext cx="1574323" cy="80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(L, N)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3"/>
          <p:cNvSpPr/>
          <p:nvPr/>
        </p:nvSpPr>
        <p:spPr>
          <a:xfrm>
            <a:off x="2981124" y="3970339"/>
            <a:ext cx="1574323" cy="80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((L, N), R)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33"/>
          <p:cNvCxnSpPr/>
          <p:nvPr/>
        </p:nvCxnSpPr>
        <p:spPr>
          <a:xfrm rot="10800000">
            <a:off x="4555447" y="4364966"/>
            <a:ext cx="2043761" cy="542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8" name="Google Shape;268;p33"/>
          <p:cNvSpPr txBox="1"/>
          <p:nvPr/>
        </p:nvSpPr>
        <p:spPr>
          <a:xfrm>
            <a:off x="6609937" y="4164238"/>
            <a:ext cx="2202648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33"/>
          <p:cNvCxnSpPr>
            <a:stCxn id="265" idx="2"/>
            <a:endCxn id="266" idx="0"/>
          </p:cNvCxnSpPr>
          <p:nvPr/>
        </p:nvCxnSpPr>
        <p:spPr>
          <a:xfrm>
            <a:off x="2873496" y="2837489"/>
            <a:ext cx="894900" cy="113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0" name="Google Shape;270;p33"/>
          <p:cNvCxnSpPr>
            <a:stCxn id="264" idx="2"/>
            <a:endCxn id="266" idx="0"/>
          </p:cNvCxnSpPr>
          <p:nvPr/>
        </p:nvCxnSpPr>
        <p:spPr>
          <a:xfrm flipH="1">
            <a:off x="3768230" y="2837489"/>
            <a:ext cx="3035100" cy="113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type="title"/>
          </p:nvPr>
        </p:nvSpPr>
        <p:spPr>
          <a:xfrm>
            <a:off x="845389" y="877019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276" name="Google Shape;276;p34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277" name="Google Shape;277;p34"/>
          <p:cNvSpPr/>
          <p:nvPr/>
        </p:nvSpPr>
        <p:spPr>
          <a:xfrm>
            <a:off x="845389" y="1639019"/>
            <a:ext cx="1992702" cy="1069675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4"/>
          <p:cNvSpPr txBox="1"/>
          <p:nvPr/>
        </p:nvSpPr>
        <p:spPr>
          <a:xfrm>
            <a:off x="845389" y="2020019"/>
            <a:ext cx="7306500" cy="11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Deletion a key k follows the reverse steps of insertion, where:</a:t>
            </a:r>
            <a:endParaRPr/>
          </a:p>
          <a:p>
            <a:pPr indent="-35560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-US" sz="2000">
                <a:solidFill>
                  <a:schemeClr val="dk1"/>
                </a:solidFill>
              </a:rPr>
              <a:t>Locate a node with key </a:t>
            </a:r>
            <a:r>
              <a:rPr i="1" lang="en-US" sz="2000">
                <a:solidFill>
                  <a:schemeClr val="dk1"/>
                </a:solidFill>
              </a:rPr>
              <a:t>k</a:t>
            </a:r>
            <a:r>
              <a:rPr lang="en-US" sz="2000">
                <a:solidFill>
                  <a:schemeClr val="dk1"/>
                </a:solidFill>
              </a:rPr>
              <a:t> using BST property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-US" sz="2000">
                <a:solidFill>
                  <a:schemeClr val="dk1"/>
                </a:solidFill>
              </a:rPr>
              <a:t>Remove it by merging its subtrees: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 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279" name="Google Shape;27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3200" y="3162294"/>
            <a:ext cx="3390900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"/>
          <p:cNvSpPr txBox="1"/>
          <p:nvPr>
            <p:ph type="title"/>
          </p:nvPr>
        </p:nvSpPr>
        <p:spPr>
          <a:xfrm>
            <a:off x="845389" y="877019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Searching</a:t>
            </a:r>
            <a:endParaRPr/>
          </a:p>
        </p:txBody>
      </p:sp>
      <p:sp>
        <p:nvSpPr>
          <p:cNvPr id="285" name="Google Shape;285;p35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286" name="Google Shape;286;p35"/>
          <p:cNvSpPr/>
          <p:nvPr/>
        </p:nvSpPr>
        <p:spPr>
          <a:xfrm>
            <a:off x="845389" y="1639019"/>
            <a:ext cx="1992702" cy="1069675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5"/>
          <p:cNvSpPr txBox="1"/>
          <p:nvPr/>
        </p:nvSpPr>
        <p:spPr>
          <a:xfrm>
            <a:off x="845389" y="2020019"/>
            <a:ext cx="730657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Searching is identical to a standard BST search: compare keys and move left/right until a match is found or a null pointer is reached.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"/>
          <p:cNvSpPr txBox="1"/>
          <p:nvPr>
            <p:ph type="title"/>
          </p:nvPr>
        </p:nvSpPr>
        <p:spPr>
          <a:xfrm>
            <a:off x="845389" y="877019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Implicit treaps</a:t>
            </a:r>
            <a:endParaRPr/>
          </a:p>
        </p:txBody>
      </p:sp>
      <p:sp>
        <p:nvSpPr>
          <p:cNvPr id="293" name="Google Shape;293;p36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294" name="Google Shape;294;p36"/>
          <p:cNvSpPr/>
          <p:nvPr/>
        </p:nvSpPr>
        <p:spPr>
          <a:xfrm>
            <a:off x="845389" y="1639019"/>
            <a:ext cx="1992702" cy="1069675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6"/>
          <p:cNvSpPr txBox="1"/>
          <p:nvPr/>
        </p:nvSpPr>
        <p:spPr>
          <a:xfrm>
            <a:off x="845388" y="2020019"/>
            <a:ext cx="76689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Instead of storing keys, we use position as the key.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This allows us to: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-US" sz="2000">
                <a:solidFill>
                  <a:schemeClr val="dk1"/>
                </a:solidFill>
              </a:rPr>
              <a:t>treat it like an array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-US" sz="2000">
                <a:solidFill>
                  <a:schemeClr val="dk1"/>
                </a:solidFill>
              </a:rPr>
              <a:t>move subarrays efficiently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-US" sz="2000">
                <a:solidFill>
                  <a:schemeClr val="dk1"/>
                </a:solidFill>
              </a:rPr>
              <a:t>support range operations like reverse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This is very useful in competitive programming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/>
          <p:nvPr>
            <p:ph type="title"/>
          </p:nvPr>
        </p:nvSpPr>
        <p:spPr>
          <a:xfrm>
            <a:off x="969432" y="946030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 complexity </a:t>
            </a:r>
            <a:endParaRPr/>
          </a:p>
        </p:txBody>
      </p:sp>
      <p:sp>
        <p:nvSpPr>
          <p:cNvPr id="304" name="Google Shape;304;p37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pic>
        <p:nvPicPr>
          <p:cNvPr id="305" name="Google Shape;3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05" y="2089030"/>
            <a:ext cx="9787990" cy="3277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8"/>
          <p:cNvSpPr txBox="1"/>
          <p:nvPr>
            <p:ph type="ctrTitle"/>
          </p:nvPr>
        </p:nvSpPr>
        <p:spPr>
          <a:xfrm>
            <a:off x="1066800" y="1885616"/>
            <a:ext cx="7772400" cy="936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Applications</a:t>
            </a:r>
            <a:endParaRPr b="1" sz="3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 txBox="1"/>
          <p:nvPr>
            <p:ph type="title"/>
          </p:nvPr>
        </p:nvSpPr>
        <p:spPr>
          <a:xfrm>
            <a:off x="917673" y="1006415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Ordered set / map (dictionary)</a:t>
            </a:r>
            <a:endParaRPr/>
          </a:p>
        </p:txBody>
      </p:sp>
      <p:sp>
        <p:nvSpPr>
          <p:cNvPr id="322" name="Google Shape;322;p39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323" name="Google Shape;323;p39"/>
          <p:cNvSpPr/>
          <p:nvPr/>
        </p:nvSpPr>
        <p:spPr>
          <a:xfrm>
            <a:off x="917673" y="2459560"/>
            <a:ext cx="8761200" cy="19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-US" sz="2000">
                <a:solidFill>
                  <a:schemeClr val="dk1"/>
                </a:solidFill>
              </a:rPr>
              <a:t>Supports: Insert, delete, search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-US" sz="2000">
                <a:solidFill>
                  <a:schemeClr val="dk1"/>
                </a:solidFill>
              </a:rPr>
              <a:t>Expected </a:t>
            </a:r>
            <a:r>
              <a:rPr b="1" lang="en-US" sz="2000">
                <a:solidFill>
                  <a:schemeClr val="dk1"/>
                </a:solidFill>
              </a:rPr>
              <a:t>O(log n)</a:t>
            </a:r>
            <a:r>
              <a:rPr lang="en-US" sz="2000">
                <a:solidFill>
                  <a:schemeClr val="dk1"/>
                </a:solidFill>
              </a:rPr>
              <a:t> time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-US" sz="2000">
                <a:solidFill>
                  <a:schemeClr val="dk1"/>
                </a:solidFill>
              </a:rPr>
              <a:t>Comparable to: AVL / Red-Black Trees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-US" sz="2000">
                <a:solidFill>
                  <a:schemeClr val="dk1"/>
                </a:solidFill>
              </a:rPr>
              <a:t>Key advantage: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Much simpler to implement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-US" sz="2000">
                <a:solidFill>
                  <a:schemeClr val="dk1"/>
                </a:solidFill>
              </a:rPr>
              <a:t>Practical benefit: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Less code → easier optimization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/>
          <p:nvPr>
            <p:ph type="title"/>
          </p:nvPr>
        </p:nvSpPr>
        <p:spPr>
          <a:xfrm>
            <a:off x="917673" y="1006415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Order statistics and range queries (augmented treaps)</a:t>
            </a:r>
            <a:endParaRPr/>
          </a:p>
        </p:txBody>
      </p:sp>
      <p:sp>
        <p:nvSpPr>
          <p:cNvPr id="332" name="Google Shape;332;p40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333" name="Google Shape;333;p40"/>
          <p:cNvSpPr/>
          <p:nvPr/>
        </p:nvSpPr>
        <p:spPr>
          <a:xfrm>
            <a:off x="917673" y="2945774"/>
            <a:ext cx="7769100" cy="16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Augment nodes with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subtree size / aggregates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Supports: k-th smallest element, rank of a key, count in range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Can maintain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 / min / max over ranges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Update info in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O(1) per operation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Useful for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query problems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1"/>
          <p:cNvSpPr txBox="1"/>
          <p:nvPr>
            <p:ph type="title"/>
          </p:nvPr>
        </p:nvSpPr>
        <p:spPr>
          <a:xfrm>
            <a:off x="917673" y="1006415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Dynamic sequence editor </a:t>
            </a:r>
            <a:br>
              <a:rPr lang="en-US"/>
            </a:br>
            <a:r>
              <a:rPr lang="en-US"/>
              <a:t>(implicit treap / rope)</a:t>
            </a:r>
            <a:endParaRPr/>
          </a:p>
        </p:txBody>
      </p:sp>
      <p:sp>
        <p:nvSpPr>
          <p:cNvPr id="342" name="Google Shape;342;p41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343" name="Google Shape;343;p41"/>
          <p:cNvSpPr/>
          <p:nvPr/>
        </p:nvSpPr>
        <p:spPr>
          <a:xfrm>
            <a:off x="920151" y="2558082"/>
            <a:ext cx="8065800" cy="16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Implicit treaps use the in-order position as the key, representing a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 instead of a set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With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lazy propagation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range updates (e.g., reversing a segment) can be handled quickly.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sequence manipulation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algorithmic problems.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 txBox="1"/>
          <p:nvPr>
            <p:ph type="title"/>
          </p:nvPr>
        </p:nvSpPr>
        <p:spPr>
          <a:xfrm>
            <a:off x="917673" y="1006415"/>
            <a:ext cx="748625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Flexible Structure for Custom Problems</a:t>
            </a:r>
            <a:endParaRPr/>
          </a:p>
        </p:txBody>
      </p:sp>
      <p:sp>
        <p:nvSpPr>
          <p:cNvPr id="352" name="Google Shape;352;p42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353" name="Google Shape;353;p42"/>
          <p:cNvSpPr/>
          <p:nvPr/>
        </p:nvSpPr>
        <p:spPr>
          <a:xfrm>
            <a:off x="1110398" y="2823638"/>
            <a:ext cx="59883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-US" sz="2000">
                <a:solidFill>
                  <a:schemeClr val="dk1"/>
                </a:solidFill>
              </a:rPr>
              <a:t>Useful when: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chemeClr val="dk1"/>
                </a:solidFill>
              </a:rPr>
              <a:t>Standard libraries are not enough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-US" sz="2000">
                <a:solidFill>
                  <a:schemeClr val="dk1"/>
                </a:solidFill>
              </a:rPr>
              <a:t>Can combine: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chemeClr val="dk1"/>
                </a:solidFill>
              </a:rPr>
              <a:t>Ordering + custom queries + modifications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-US" sz="2000">
                <a:solidFill>
                  <a:schemeClr val="dk1"/>
                </a:solidFill>
              </a:rPr>
              <a:t>Key strength: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000">
                <a:solidFill>
                  <a:schemeClr val="dk1"/>
                </a:solidFill>
              </a:rPr>
              <a:t>Write your own structure easily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3"/>
          <p:cNvSpPr txBox="1"/>
          <p:nvPr>
            <p:ph type="ctrTitle"/>
          </p:nvPr>
        </p:nvSpPr>
        <p:spPr>
          <a:xfrm>
            <a:off x="1066800" y="1885616"/>
            <a:ext cx="77724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Quizzes</a:t>
            </a:r>
            <a:endParaRPr b="1" sz="3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4"/>
          <p:cNvSpPr txBox="1"/>
          <p:nvPr>
            <p:ph idx="1" type="body"/>
          </p:nvPr>
        </p:nvSpPr>
        <p:spPr>
          <a:xfrm>
            <a:off x="597199" y="1250829"/>
            <a:ext cx="8711700" cy="16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Q1.</a:t>
            </a:r>
            <a:r>
              <a:rPr lang="en-US"/>
              <a:t> In a </a:t>
            </a:r>
            <a:r>
              <a:rPr b="1" lang="en-US"/>
              <a:t>treap</a:t>
            </a:r>
            <a:r>
              <a:rPr lang="en-US"/>
              <a:t>, each node stores a pair</a:t>
            </a:r>
            <a:r>
              <a:rPr b="1" lang="en-US"/>
              <a:t> (X, Y)</a:t>
            </a:r>
            <a:r>
              <a:rPr lang="en-US"/>
              <a:t>. Which statement is correct?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A. </a:t>
            </a:r>
            <a:r>
              <a:rPr lang="en-US"/>
              <a:t>The tree satisfies the BST property by Y values and heap property by X.</a:t>
            </a:r>
            <a:br>
              <a:rPr lang="en-US"/>
            </a:br>
            <a:r>
              <a:rPr b="1" lang="en-US"/>
              <a:t>B.</a:t>
            </a:r>
            <a:r>
              <a:rPr lang="en-US"/>
              <a:t> The tree satisfies the BST property by X values and heap property by Y.</a:t>
            </a:r>
            <a:br>
              <a:rPr lang="en-US"/>
            </a:br>
            <a:r>
              <a:rPr b="1" lang="en-US"/>
              <a:t>C.</a:t>
            </a:r>
            <a:r>
              <a:rPr lang="en-US"/>
              <a:t> Both properties are based on X values.</a:t>
            </a:r>
            <a:br>
              <a:rPr lang="en-US"/>
            </a:br>
            <a:r>
              <a:rPr b="1" lang="en-US"/>
              <a:t>D.</a:t>
            </a:r>
            <a:r>
              <a:rPr lang="en-US"/>
              <a:t> Both properties are based on Y values.</a:t>
            </a:r>
            <a:endParaRPr i="1"/>
          </a:p>
        </p:txBody>
      </p:sp>
      <p:sp>
        <p:nvSpPr>
          <p:cNvPr id="367" name="Google Shape;367;p44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5"/>
          <p:cNvSpPr txBox="1"/>
          <p:nvPr>
            <p:ph idx="1" type="body"/>
          </p:nvPr>
        </p:nvSpPr>
        <p:spPr>
          <a:xfrm>
            <a:off x="597199" y="1250829"/>
            <a:ext cx="8711700" cy="16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Q1.</a:t>
            </a:r>
            <a:r>
              <a:rPr lang="en-US"/>
              <a:t> In a </a:t>
            </a:r>
            <a:r>
              <a:rPr b="1" lang="en-US"/>
              <a:t>treap</a:t>
            </a:r>
            <a:r>
              <a:rPr lang="en-US"/>
              <a:t>, each node stores a pair</a:t>
            </a:r>
            <a:r>
              <a:rPr b="1" lang="en-US"/>
              <a:t> (X, Y)</a:t>
            </a:r>
            <a:r>
              <a:rPr lang="en-US"/>
              <a:t>. Which statement is correct?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A. </a:t>
            </a:r>
            <a:r>
              <a:rPr lang="en-US"/>
              <a:t>The tree satisfies the BST property by Y values and heap property by X.</a:t>
            </a:r>
            <a:br>
              <a:rPr lang="en-US"/>
            </a:br>
            <a:r>
              <a:rPr b="1" lang="en-US">
                <a:solidFill>
                  <a:srgbClr val="FF0000"/>
                </a:solidFill>
              </a:rPr>
              <a:t>B.</a:t>
            </a:r>
            <a:r>
              <a:rPr lang="en-US">
                <a:solidFill>
                  <a:srgbClr val="FF0000"/>
                </a:solidFill>
              </a:rPr>
              <a:t> The tree satisfies the BST property by X values and heap property by Y.</a:t>
            </a:r>
            <a:br>
              <a:rPr lang="en-US">
                <a:solidFill>
                  <a:srgbClr val="FF0000"/>
                </a:solidFill>
              </a:rPr>
            </a:br>
            <a:r>
              <a:rPr b="1" lang="en-US"/>
              <a:t>C.</a:t>
            </a:r>
            <a:r>
              <a:rPr lang="en-US"/>
              <a:t> Both properties are based on X values.</a:t>
            </a:r>
            <a:br>
              <a:rPr lang="en-US"/>
            </a:br>
            <a:r>
              <a:rPr b="1" lang="en-US"/>
              <a:t>D.</a:t>
            </a:r>
            <a:r>
              <a:rPr lang="en-US"/>
              <a:t> Both properties are based on Y values.</a:t>
            </a:r>
            <a:endParaRPr i="1"/>
          </a:p>
        </p:txBody>
      </p:sp>
      <p:sp>
        <p:nvSpPr>
          <p:cNvPr id="373" name="Google Shape;373;p45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6"/>
          <p:cNvSpPr txBox="1"/>
          <p:nvPr>
            <p:ph idx="1" type="body"/>
          </p:nvPr>
        </p:nvSpPr>
        <p:spPr>
          <a:xfrm>
            <a:off x="610139" y="1155939"/>
            <a:ext cx="8685600" cy="16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Q2. </a:t>
            </a:r>
            <a:r>
              <a:rPr lang="en-US"/>
              <a:t>What is the purpose of using a </a:t>
            </a:r>
            <a:r>
              <a:rPr b="1" lang="en-US"/>
              <a:t>random priority Y value</a:t>
            </a:r>
            <a:r>
              <a:rPr lang="en-US"/>
              <a:t> in a treap?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A.</a:t>
            </a:r>
            <a:r>
              <a:rPr lang="en-US"/>
              <a:t> To reduce memory usage.</a:t>
            </a:r>
            <a:br>
              <a:rPr lang="en-US"/>
            </a:br>
            <a:r>
              <a:rPr b="1" lang="en-US"/>
              <a:t>B.</a:t>
            </a:r>
            <a:r>
              <a:rPr lang="en-US"/>
              <a:t> To guarantee perfect balance.</a:t>
            </a:r>
            <a:br>
              <a:rPr lang="en-US"/>
            </a:br>
            <a:r>
              <a:rPr b="1" lang="en-US"/>
              <a:t>C.</a:t>
            </a:r>
            <a:r>
              <a:rPr lang="en-US"/>
              <a:t> To avoid degeneration and achieve expected O(log⁡N) time complexity.</a:t>
            </a:r>
            <a:br>
              <a:rPr lang="en-US"/>
            </a:br>
            <a:r>
              <a:rPr b="1" lang="en-US"/>
              <a:t>D. </a:t>
            </a:r>
            <a:r>
              <a:rPr lang="en-US"/>
              <a:t>To make search operations O(1).</a:t>
            </a:r>
            <a:endParaRPr i="1"/>
          </a:p>
        </p:txBody>
      </p:sp>
      <p:sp>
        <p:nvSpPr>
          <p:cNvPr id="379" name="Google Shape;379;p46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/>
          <p:nvPr>
            <p:ph idx="1" type="body"/>
          </p:nvPr>
        </p:nvSpPr>
        <p:spPr>
          <a:xfrm>
            <a:off x="610139" y="1155939"/>
            <a:ext cx="8685600" cy="16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Q2. </a:t>
            </a:r>
            <a:r>
              <a:rPr lang="en-US"/>
              <a:t>What is the purpose of using a </a:t>
            </a:r>
            <a:r>
              <a:rPr b="1" lang="en-US"/>
              <a:t>random priority Y value</a:t>
            </a:r>
            <a:r>
              <a:rPr lang="en-US"/>
              <a:t> in a treap?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A.</a:t>
            </a:r>
            <a:r>
              <a:rPr lang="en-US"/>
              <a:t> To reduce memory usage.</a:t>
            </a:r>
            <a:br>
              <a:rPr lang="en-US"/>
            </a:br>
            <a:r>
              <a:rPr b="1" lang="en-US"/>
              <a:t>B.</a:t>
            </a:r>
            <a:r>
              <a:rPr lang="en-US"/>
              <a:t> To guarantee perfect balance.</a:t>
            </a:r>
            <a:br>
              <a:rPr lang="en-US"/>
            </a:br>
            <a:r>
              <a:rPr b="1" lang="en-US">
                <a:solidFill>
                  <a:srgbClr val="FF0000"/>
                </a:solidFill>
              </a:rPr>
              <a:t>C.</a:t>
            </a:r>
            <a:r>
              <a:rPr lang="en-US">
                <a:solidFill>
                  <a:srgbClr val="FF0000"/>
                </a:solidFill>
              </a:rPr>
              <a:t> To avoid degeneration and achieve expected O(log⁡N) time complexity.</a:t>
            </a:r>
            <a:br>
              <a:rPr lang="en-US"/>
            </a:br>
            <a:r>
              <a:rPr b="1" lang="en-US"/>
              <a:t>D. </a:t>
            </a:r>
            <a:r>
              <a:rPr lang="en-US"/>
              <a:t>To make search operations O(1).</a:t>
            </a:r>
            <a:endParaRPr i="1"/>
          </a:p>
        </p:txBody>
      </p:sp>
      <p:sp>
        <p:nvSpPr>
          <p:cNvPr id="385" name="Google Shape;385;p47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8"/>
          <p:cNvSpPr txBox="1"/>
          <p:nvPr>
            <p:ph idx="1" type="body"/>
          </p:nvPr>
        </p:nvSpPr>
        <p:spPr>
          <a:xfrm>
            <a:off x="610139" y="897147"/>
            <a:ext cx="8685600" cy="273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Q3</a:t>
            </a:r>
            <a:r>
              <a:rPr lang="en-US"/>
              <a:t>. What is the expected time complexity for each of </a:t>
            </a:r>
            <a:r>
              <a:rPr b="1" lang="en-US"/>
              <a:t>Insert</a:t>
            </a:r>
            <a:r>
              <a:rPr lang="en-US"/>
              <a:t>, </a:t>
            </a:r>
            <a:r>
              <a:rPr b="1" lang="en-US"/>
              <a:t>Search</a:t>
            </a:r>
            <a:r>
              <a:rPr lang="en-US"/>
              <a:t>, and </a:t>
            </a:r>
            <a:r>
              <a:rPr b="1" lang="en-US"/>
              <a:t>Erase</a:t>
            </a:r>
            <a:r>
              <a:rPr lang="en-US"/>
              <a:t> operation in a treap?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A.</a:t>
            </a:r>
            <a:r>
              <a:rPr lang="en-US"/>
              <a:t> O(log⁡N).</a:t>
            </a:r>
            <a:br>
              <a:rPr lang="en-US"/>
            </a:br>
            <a:r>
              <a:rPr b="1" lang="en-US"/>
              <a:t>B. </a:t>
            </a:r>
            <a:r>
              <a:rPr lang="en-US"/>
              <a:t>O(1).</a:t>
            </a:r>
            <a:br>
              <a:rPr lang="en-US"/>
            </a:br>
            <a:r>
              <a:rPr b="1" lang="en-US"/>
              <a:t>C.</a:t>
            </a:r>
            <a:r>
              <a:rPr lang="en-US"/>
              <a:t> O(N).</a:t>
            </a:r>
            <a:br>
              <a:rPr lang="en-US"/>
            </a:br>
            <a:r>
              <a:rPr b="1" lang="en-US"/>
              <a:t>D.</a:t>
            </a:r>
            <a:r>
              <a:rPr lang="en-US"/>
              <a:t> O(Nlog⁡N).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br>
              <a:rPr lang="en-US"/>
            </a:br>
            <a:endParaRPr i="1"/>
          </a:p>
        </p:txBody>
      </p:sp>
      <p:sp>
        <p:nvSpPr>
          <p:cNvPr id="391" name="Google Shape;391;p48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9"/>
          <p:cNvSpPr txBox="1"/>
          <p:nvPr>
            <p:ph idx="1" type="body"/>
          </p:nvPr>
        </p:nvSpPr>
        <p:spPr>
          <a:xfrm>
            <a:off x="610139" y="897147"/>
            <a:ext cx="8685600" cy="273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Q3</a:t>
            </a:r>
            <a:r>
              <a:rPr lang="en-US"/>
              <a:t>. What is the expected time complexity for each of </a:t>
            </a:r>
            <a:r>
              <a:rPr b="1" lang="en-US"/>
              <a:t>Insert</a:t>
            </a:r>
            <a:r>
              <a:rPr lang="en-US"/>
              <a:t>, </a:t>
            </a:r>
            <a:r>
              <a:rPr b="1" lang="en-US"/>
              <a:t>Search</a:t>
            </a:r>
            <a:r>
              <a:rPr lang="en-US"/>
              <a:t>, and </a:t>
            </a:r>
            <a:r>
              <a:rPr b="1" lang="en-US"/>
              <a:t>Erase</a:t>
            </a:r>
            <a:r>
              <a:rPr lang="en-US"/>
              <a:t> operation in a treap?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1" lang="en-US">
                <a:solidFill>
                  <a:srgbClr val="FF0000"/>
                </a:solidFill>
              </a:rPr>
              <a:t>A.</a:t>
            </a:r>
            <a:r>
              <a:rPr lang="en-US">
                <a:solidFill>
                  <a:srgbClr val="FF0000"/>
                </a:solidFill>
              </a:rPr>
              <a:t> O(log⁡N).</a:t>
            </a:r>
            <a:br>
              <a:rPr lang="en-US"/>
            </a:br>
            <a:r>
              <a:rPr b="1" lang="en-US"/>
              <a:t>B. </a:t>
            </a:r>
            <a:r>
              <a:rPr lang="en-US"/>
              <a:t>O(1).</a:t>
            </a:r>
            <a:br>
              <a:rPr lang="en-US"/>
            </a:br>
            <a:r>
              <a:rPr b="1" lang="en-US"/>
              <a:t>C.</a:t>
            </a:r>
            <a:r>
              <a:rPr lang="en-US"/>
              <a:t> O(N).</a:t>
            </a:r>
            <a:br>
              <a:rPr lang="en-US"/>
            </a:br>
            <a:r>
              <a:rPr b="1" lang="en-US"/>
              <a:t>D.</a:t>
            </a:r>
            <a:r>
              <a:rPr lang="en-US"/>
              <a:t> O(Nlog⁡N).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br>
              <a:rPr lang="en-US"/>
            </a:br>
            <a:endParaRPr i="1"/>
          </a:p>
        </p:txBody>
      </p:sp>
      <p:sp>
        <p:nvSpPr>
          <p:cNvPr id="397" name="Google Shape;397;p49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0"/>
          <p:cNvSpPr txBox="1"/>
          <p:nvPr>
            <p:ph idx="1" type="body"/>
          </p:nvPr>
        </p:nvSpPr>
        <p:spPr>
          <a:xfrm>
            <a:off x="610138" y="319177"/>
            <a:ext cx="8685600" cy="273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Q4.</a:t>
            </a:r>
            <a:r>
              <a:rPr lang="en-US"/>
              <a:t> What does the operation </a:t>
            </a:r>
            <a:r>
              <a:rPr b="1" lang="en-US"/>
              <a:t>Split(T, X)</a:t>
            </a:r>
            <a:r>
              <a:rPr lang="en-US"/>
              <a:t> do?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A.</a:t>
            </a:r>
            <a:r>
              <a:rPr lang="en-US"/>
              <a:t> Splits the treap into two trees based on priority</a:t>
            </a:r>
            <a:br>
              <a:rPr lang="en-US"/>
            </a:br>
            <a:r>
              <a:rPr b="1" lang="en-US"/>
              <a:t>B. </a:t>
            </a:r>
            <a:r>
              <a:rPr lang="en-US"/>
              <a:t>Splits the treap into two trees: left tree: keys ≤ X &amp; right tree: keys &gt; X</a:t>
            </a:r>
            <a:br>
              <a:rPr lang="en-US"/>
            </a:br>
            <a:r>
              <a:rPr b="1" lang="en-US"/>
              <a:t>C.</a:t>
            </a:r>
            <a:r>
              <a:rPr lang="en-US"/>
              <a:t> Deletes all nodes with key &gt; X</a:t>
            </a:r>
            <a:br>
              <a:rPr lang="en-US"/>
            </a:br>
            <a:r>
              <a:rPr b="1" lang="en-US"/>
              <a:t>D.</a:t>
            </a:r>
            <a:r>
              <a:rPr lang="en-US"/>
              <a:t> Splits the tree based on height</a:t>
            </a:r>
            <a:br>
              <a:rPr lang="en-US"/>
            </a:br>
            <a:endParaRPr i="1"/>
          </a:p>
        </p:txBody>
      </p:sp>
      <p:sp>
        <p:nvSpPr>
          <p:cNvPr id="403" name="Google Shape;403;p50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1"/>
          <p:cNvSpPr txBox="1"/>
          <p:nvPr>
            <p:ph idx="1" type="body"/>
          </p:nvPr>
        </p:nvSpPr>
        <p:spPr>
          <a:xfrm>
            <a:off x="610138" y="319177"/>
            <a:ext cx="8685600" cy="273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Q4.</a:t>
            </a:r>
            <a:r>
              <a:rPr lang="en-US"/>
              <a:t> What does the operation </a:t>
            </a:r>
            <a:r>
              <a:rPr b="1" lang="en-US"/>
              <a:t>Split(T, X)</a:t>
            </a:r>
            <a:r>
              <a:rPr lang="en-US"/>
              <a:t> do?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A.</a:t>
            </a:r>
            <a:r>
              <a:rPr lang="en-US"/>
              <a:t> Splits the treap into two trees based on priority</a:t>
            </a:r>
            <a:br>
              <a:rPr lang="en-US"/>
            </a:br>
            <a:r>
              <a:rPr b="1" lang="en-US">
                <a:solidFill>
                  <a:srgbClr val="FF0000"/>
                </a:solidFill>
              </a:rPr>
              <a:t>B. </a:t>
            </a:r>
            <a:r>
              <a:rPr lang="en-US">
                <a:solidFill>
                  <a:srgbClr val="FF0000"/>
                </a:solidFill>
              </a:rPr>
              <a:t>Splits the treap into two trees: left tree: keys ≤ X &amp; right tree: keys &gt; X</a:t>
            </a:r>
            <a:br>
              <a:rPr lang="en-US"/>
            </a:br>
            <a:r>
              <a:rPr b="1" lang="en-US"/>
              <a:t>C.</a:t>
            </a:r>
            <a:r>
              <a:rPr lang="en-US"/>
              <a:t> Deletes all nodes with key &gt; X</a:t>
            </a:r>
            <a:br>
              <a:rPr lang="en-US"/>
            </a:br>
            <a:r>
              <a:rPr b="1" lang="en-US"/>
              <a:t>D.</a:t>
            </a:r>
            <a:r>
              <a:rPr lang="en-US"/>
              <a:t> Splits the tree based on height</a:t>
            </a:r>
            <a:br>
              <a:rPr lang="en-US"/>
            </a:br>
            <a:endParaRPr i="1"/>
          </a:p>
        </p:txBody>
      </p:sp>
      <p:sp>
        <p:nvSpPr>
          <p:cNvPr id="409" name="Google Shape;409;p51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2"/>
          <p:cNvSpPr txBox="1"/>
          <p:nvPr>
            <p:ph idx="1" type="body"/>
          </p:nvPr>
        </p:nvSpPr>
        <p:spPr>
          <a:xfrm>
            <a:off x="742950" y="1147312"/>
            <a:ext cx="8420100" cy="16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Q5.</a:t>
            </a:r>
            <a:r>
              <a:rPr lang="en-US"/>
              <a:t> What condition is required for the </a:t>
            </a:r>
            <a:r>
              <a:rPr b="1" lang="en-US"/>
              <a:t>Merge(T1, T2)</a:t>
            </a:r>
            <a:r>
              <a:rPr lang="en-US"/>
              <a:t> operation?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A.</a:t>
            </a:r>
            <a:r>
              <a:rPr lang="en-US"/>
              <a:t> All priorities in T1 must be greater than those in T2</a:t>
            </a:r>
            <a:br>
              <a:rPr lang="en-US"/>
            </a:br>
            <a:r>
              <a:rPr b="1" lang="en-US"/>
              <a:t>B.</a:t>
            </a:r>
            <a:r>
              <a:rPr lang="en-US"/>
              <a:t> Both trees must have the same number of nodes</a:t>
            </a:r>
            <a:br>
              <a:rPr lang="en-US"/>
            </a:br>
            <a:r>
              <a:rPr b="1" lang="en-US"/>
              <a:t>C.</a:t>
            </a:r>
            <a:r>
              <a:rPr lang="en-US"/>
              <a:t> All keys in T1 must be less than all keys in T2</a:t>
            </a:r>
            <a:br>
              <a:rPr lang="en-US"/>
            </a:br>
            <a:r>
              <a:rPr b="1" lang="en-US"/>
              <a:t>D.</a:t>
            </a:r>
            <a:r>
              <a:rPr lang="en-US"/>
              <a:t> Both trees must be balanced</a:t>
            </a:r>
            <a:endParaRPr i="1"/>
          </a:p>
        </p:txBody>
      </p:sp>
      <p:sp>
        <p:nvSpPr>
          <p:cNvPr id="415" name="Google Shape;415;p52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3"/>
          <p:cNvSpPr txBox="1"/>
          <p:nvPr>
            <p:ph idx="1" type="body"/>
          </p:nvPr>
        </p:nvSpPr>
        <p:spPr>
          <a:xfrm>
            <a:off x="742950" y="1147312"/>
            <a:ext cx="8420100" cy="16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Q5.</a:t>
            </a:r>
            <a:r>
              <a:rPr lang="en-US"/>
              <a:t> What condition is required for the </a:t>
            </a:r>
            <a:r>
              <a:rPr b="1" lang="en-US"/>
              <a:t>Merge(T1, T2)</a:t>
            </a:r>
            <a:r>
              <a:rPr lang="en-US"/>
              <a:t> operation?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/>
              <a:t>A.</a:t>
            </a:r>
            <a:r>
              <a:rPr lang="en-US"/>
              <a:t> All priorities in T1 must be greater than those in T2</a:t>
            </a:r>
            <a:br>
              <a:rPr lang="en-US"/>
            </a:br>
            <a:r>
              <a:rPr b="1" lang="en-US"/>
              <a:t>B.</a:t>
            </a:r>
            <a:r>
              <a:rPr lang="en-US"/>
              <a:t> Both trees must have the same number of nodes</a:t>
            </a:r>
            <a:br>
              <a:rPr lang="en-US"/>
            </a:br>
            <a:r>
              <a:rPr b="1" lang="en-US">
                <a:solidFill>
                  <a:srgbClr val="FF0000"/>
                </a:solidFill>
              </a:rPr>
              <a:t>C.</a:t>
            </a:r>
            <a:r>
              <a:rPr lang="en-US">
                <a:solidFill>
                  <a:srgbClr val="FF0000"/>
                </a:solidFill>
              </a:rPr>
              <a:t> All keys in T1 must be less than all keys in T2</a:t>
            </a:r>
            <a:br>
              <a:rPr lang="en-US"/>
            </a:br>
            <a:r>
              <a:rPr b="1" lang="en-US"/>
              <a:t>D.</a:t>
            </a:r>
            <a:r>
              <a:rPr lang="en-US"/>
              <a:t> Both trees must be balanced</a:t>
            </a:r>
            <a:endParaRPr i="1"/>
          </a:p>
        </p:txBody>
      </p:sp>
      <p:sp>
        <p:nvSpPr>
          <p:cNvPr id="421" name="Google Shape;421;p53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4"/>
          <p:cNvSpPr txBox="1"/>
          <p:nvPr>
            <p:ph type="ctrTitle"/>
          </p:nvPr>
        </p:nvSpPr>
        <p:spPr>
          <a:xfrm>
            <a:off x="1066800" y="1885616"/>
            <a:ext cx="77724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Datasets</a:t>
            </a:r>
            <a:endParaRPr b="1" sz="3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5"/>
          <p:cNvSpPr txBox="1"/>
          <p:nvPr>
            <p:ph type="title"/>
          </p:nvPr>
        </p:nvSpPr>
        <p:spPr>
          <a:xfrm>
            <a:off x="824723" y="1256440"/>
            <a:ext cx="748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Synthetic data</a:t>
            </a:r>
            <a:endParaRPr/>
          </a:p>
        </p:txBody>
      </p:sp>
      <p:sp>
        <p:nvSpPr>
          <p:cNvPr id="438" name="Google Shape;438;p55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439" name="Google Shape;439;p55"/>
          <p:cNvSpPr/>
          <p:nvPr/>
        </p:nvSpPr>
        <p:spPr>
          <a:xfrm>
            <a:off x="1368675" y="1784875"/>
            <a:ext cx="73329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Queries:</a:t>
            </a:r>
            <a:endParaRPr sz="2300"/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50% Find</a:t>
            </a:r>
            <a:endParaRPr sz="2300"/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40% Insert</a:t>
            </a:r>
            <a:endParaRPr sz="2300"/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10% Delete</a:t>
            </a:r>
            <a:endParaRPr sz="2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Data:</a:t>
            </a:r>
            <a:endParaRPr sz="2300"/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Totally random data to </a:t>
            </a:r>
            <a:r>
              <a:rPr lang="en-US" sz="2300"/>
              <a:t>compare with Arrays</a:t>
            </a:r>
            <a:endParaRPr sz="2300"/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Data with an increasing trend to compare with BST</a:t>
            </a:r>
            <a:endParaRPr sz="23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6"/>
          <p:cNvSpPr txBox="1"/>
          <p:nvPr>
            <p:ph type="title"/>
          </p:nvPr>
        </p:nvSpPr>
        <p:spPr>
          <a:xfrm>
            <a:off x="841148" y="1025515"/>
            <a:ext cx="748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Synthetic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Google Web Traffic Time Series</a:t>
            </a:r>
            <a:endParaRPr/>
          </a:p>
        </p:txBody>
      </p:sp>
      <p:sp>
        <p:nvSpPr>
          <p:cNvPr id="448" name="Google Shape;448;p56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pic>
        <p:nvPicPr>
          <p:cNvPr id="449" name="Google Shape;449;p56"/>
          <p:cNvPicPr preferRelativeResize="0"/>
          <p:nvPr/>
        </p:nvPicPr>
        <p:blipFill rotWithShape="1">
          <a:blip r:embed="rId3">
            <a:alphaModFix/>
          </a:blip>
          <a:srcRect b="0" l="33228" r="11152" t="0"/>
          <a:stretch/>
        </p:blipFill>
        <p:spPr>
          <a:xfrm>
            <a:off x="4217625" y="4108925"/>
            <a:ext cx="4321949" cy="2021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56"/>
          <p:cNvSpPr/>
          <p:nvPr/>
        </p:nvSpPr>
        <p:spPr>
          <a:xfrm>
            <a:off x="974575" y="1504725"/>
            <a:ext cx="75651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Real-world daily traffic data for 144k Wikipedia articles recorded from 1/7/2015 to 31/12/2015</a:t>
            </a:r>
            <a:endParaRPr sz="2300"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/>
              <a:t>Problem:</a:t>
            </a:r>
            <a:r>
              <a:rPr lang="en-US" sz="2300"/>
              <a:t> Continuously maintaining and querying the median value as new data points arrive in the stream.</a:t>
            </a:r>
            <a:endParaRPr sz="23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7"/>
          <p:cNvSpPr txBox="1"/>
          <p:nvPr>
            <p:ph type="title"/>
          </p:nvPr>
        </p:nvSpPr>
        <p:spPr>
          <a:xfrm>
            <a:off x="-192300" y="2244300"/>
            <a:ext cx="400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Comparisons between using Treap and array for find, insert, delete queries</a:t>
            </a:r>
            <a:endParaRPr sz="2400"/>
          </a:p>
        </p:txBody>
      </p:sp>
      <p:sp>
        <p:nvSpPr>
          <p:cNvPr id="459" name="Google Shape;459;p57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pic>
        <p:nvPicPr>
          <p:cNvPr id="460" name="Google Shape;460;p57" title="Biểu đồ"/>
          <p:cNvPicPr preferRelativeResize="0"/>
          <p:nvPr/>
        </p:nvPicPr>
        <p:blipFill rotWithShape="1">
          <a:blip r:embed="rId3">
            <a:alphaModFix/>
          </a:blip>
          <a:srcRect b="9840" l="0" r="0" t="18904"/>
          <a:stretch/>
        </p:blipFill>
        <p:spPr>
          <a:xfrm>
            <a:off x="3813900" y="687525"/>
            <a:ext cx="5661300" cy="249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57" title="Biểu đồ"/>
          <p:cNvPicPr preferRelativeResize="0"/>
          <p:nvPr/>
        </p:nvPicPr>
        <p:blipFill rotWithShape="1">
          <a:blip r:embed="rId4">
            <a:alphaModFix/>
          </a:blip>
          <a:srcRect b="10032" l="0" r="0" t="16531"/>
          <a:stretch/>
        </p:blipFill>
        <p:spPr>
          <a:xfrm>
            <a:off x="3813900" y="3526425"/>
            <a:ext cx="5810376" cy="263842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57"/>
          <p:cNvSpPr txBox="1"/>
          <p:nvPr>
            <p:ph type="title"/>
          </p:nvPr>
        </p:nvSpPr>
        <p:spPr>
          <a:xfrm>
            <a:off x="4715988" y="3026775"/>
            <a:ext cx="400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Runtime</a:t>
            </a:r>
            <a:endParaRPr sz="2400"/>
          </a:p>
        </p:txBody>
      </p:sp>
      <p:sp>
        <p:nvSpPr>
          <p:cNvPr id="463" name="Google Shape;463;p57"/>
          <p:cNvSpPr txBox="1"/>
          <p:nvPr>
            <p:ph type="title"/>
          </p:nvPr>
        </p:nvSpPr>
        <p:spPr>
          <a:xfrm>
            <a:off x="4716000" y="6164838"/>
            <a:ext cx="40062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Memory Usage</a:t>
            </a:r>
            <a:endParaRPr sz="2400"/>
          </a:p>
        </p:txBody>
      </p:sp>
      <p:pic>
        <p:nvPicPr>
          <p:cNvPr id="464" name="Google Shape;464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350" y="4030650"/>
            <a:ext cx="2886893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8"/>
          <p:cNvSpPr txBox="1"/>
          <p:nvPr>
            <p:ph type="title"/>
          </p:nvPr>
        </p:nvSpPr>
        <p:spPr>
          <a:xfrm>
            <a:off x="130800" y="2519125"/>
            <a:ext cx="336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Comparisons between using Treap and BST in a dataset with an increasing trend</a:t>
            </a:r>
            <a:endParaRPr sz="2400"/>
          </a:p>
        </p:txBody>
      </p:sp>
      <p:sp>
        <p:nvSpPr>
          <p:cNvPr id="473" name="Google Shape;473;p58"/>
          <p:cNvSpPr txBox="1"/>
          <p:nvPr>
            <p:ph idx="11" type="ftr"/>
          </p:nvPr>
        </p:nvSpPr>
        <p:spPr>
          <a:xfrm>
            <a:off x="1" y="6294438"/>
            <a:ext cx="444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474" name="Google Shape;474;p58"/>
          <p:cNvSpPr txBox="1"/>
          <p:nvPr>
            <p:ph type="title"/>
          </p:nvPr>
        </p:nvSpPr>
        <p:spPr>
          <a:xfrm>
            <a:off x="4715988" y="3026775"/>
            <a:ext cx="400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Runtime</a:t>
            </a:r>
            <a:endParaRPr sz="2400"/>
          </a:p>
        </p:txBody>
      </p:sp>
      <p:sp>
        <p:nvSpPr>
          <p:cNvPr id="475" name="Google Shape;475;p58"/>
          <p:cNvSpPr txBox="1"/>
          <p:nvPr>
            <p:ph type="title"/>
          </p:nvPr>
        </p:nvSpPr>
        <p:spPr>
          <a:xfrm>
            <a:off x="4716000" y="6164838"/>
            <a:ext cx="40062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Memory Usage</a:t>
            </a:r>
            <a:endParaRPr sz="2400"/>
          </a:p>
        </p:txBody>
      </p:sp>
      <p:pic>
        <p:nvPicPr>
          <p:cNvPr id="476" name="Google Shape;476;p58" title="Biểu đồ"/>
          <p:cNvPicPr preferRelativeResize="0"/>
          <p:nvPr/>
        </p:nvPicPr>
        <p:blipFill rotWithShape="1">
          <a:blip r:embed="rId3">
            <a:alphaModFix/>
          </a:blip>
          <a:srcRect b="10406" l="0" r="0" t="18273"/>
          <a:stretch/>
        </p:blipFill>
        <p:spPr>
          <a:xfrm>
            <a:off x="3919513" y="3695400"/>
            <a:ext cx="5599149" cy="246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561" y="4136475"/>
            <a:ext cx="2062464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8" title="Biểu đồ"/>
          <p:cNvPicPr preferRelativeResize="0"/>
          <p:nvPr/>
        </p:nvPicPr>
        <p:blipFill rotWithShape="1">
          <a:blip r:embed="rId5">
            <a:alphaModFix/>
          </a:blip>
          <a:srcRect b="13053" l="0" r="0" t="18138"/>
          <a:stretch/>
        </p:blipFill>
        <p:spPr>
          <a:xfrm>
            <a:off x="3921462" y="646150"/>
            <a:ext cx="5595273" cy="238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9"/>
          <p:cNvSpPr txBox="1"/>
          <p:nvPr>
            <p:ph type="ctrTitle"/>
          </p:nvPr>
        </p:nvSpPr>
        <p:spPr>
          <a:xfrm>
            <a:off x="1066800" y="1885616"/>
            <a:ext cx="77724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A</a:t>
            </a:r>
            <a:r>
              <a:rPr b="1" lang="en-US" sz="3200"/>
              <a:t>ssignment</a:t>
            </a:r>
            <a:endParaRPr b="1" sz="32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0"/>
          <p:cNvSpPr txBox="1"/>
          <p:nvPr/>
        </p:nvSpPr>
        <p:spPr>
          <a:xfrm>
            <a:off x="899975" y="1170200"/>
            <a:ext cx="7882500" cy="4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Problem: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ORDERSET - Order statistic set</a:t>
            </a:r>
            <a:endParaRPr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You need to maintain a </a:t>
            </a:r>
            <a:r>
              <a:rPr b="1" lang="en-US" sz="2000">
                <a:solidFill>
                  <a:schemeClr val="dk1"/>
                </a:solidFill>
              </a:rPr>
              <a:t>dynamic set of integers</a:t>
            </a:r>
            <a:r>
              <a:rPr lang="en-US" sz="2000">
                <a:solidFill>
                  <a:schemeClr val="dk1"/>
                </a:solidFill>
              </a:rPr>
              <a:t> supporting the following operations: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2000">
                <a:solidFill>
                  <a:schemeClr val="dk1"/>
                </a:solidFill>
              </a:rPr>
              <a:t> → Insert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2000">
                <a:solidFill>
                  <a:srgbClr val="188038"/>
                </a:solidFill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into the set (only if not already present)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2000">
                <a:solidFill>
                  <a:srgbClr val="188038"/>
                </a:solidFill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→ Delete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2000">
                <a:solidFill>
                  <a:schemeClr val="dk1"/>
                </a:solidFill>
              </a:rPr>
              <a:t> from the set (if present)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K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lang="en-US" sz="2000">
                <a:solidFill>
                  <a:schemeClr val="dk1"/>
                </a:solidFill>
              </a:rPr>
              <a:t> → Find the </a:t>
            </a:r>
            <a:r>
              <a:rPr b="1" lang="en-US" sz="2000">
                <a:solidFill>
                  <a:srgbClr val="188038"/>
                </a:solidFill>
              </a:rPr>
              <a:t>k-th</a:t>
            </a:r>
            <a:r>
              <a:rPr b="1" lang="en-US" sz="2000">
                <a:solidFill>
                  <a:schemeClr val="dk1"/>
                </a:solidFill>
              </a:rPr>
              <a:t> smallest element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2000">
                <a:solidFill>
                  <a:schemeClr val="dk1"/>
                </a:solidFill>
              </a:rPr>
              <a:t> → Count how many elements are </a:t>
            </a:r>
            <a:r>
              <a:rPr b="1" lang="en-US" sz="2000">
                <a:solidFill>
                  <a:schemeClr val="dk1"/>
                </a:solidFill>
              </a:rPr>
              <a:t>strictly smaller than </a:t>
            </a: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endParaRPr b="1"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1"/>
          <p:cNvSpPr txBox="1"/>
          <p:nvPr/>
        </p:nvSpPr>
        <p:spPr>
          <a:xfrm>
            <a:off x="1145875" y="1279000"/>
            <a:ext cx="8478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💡 </a:t>
            </a:r>
            <a:r>
              <a:rPr b="1" lang="en-US" sz="2400">
                <a:solidFill>
                  <a:schemeClr val="dk1"/>
                </a:solidFill>
              </a:rPr>
              <a:t>Hint: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For each node, store the size of its subtree (including itself)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Update size after every split/merge operation.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To find k-th element: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Compare k with size(left_child) to decide direction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To count </a:t>
            </a: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the number of elements of S smaller than x: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</a:rPr>
              <a:t>Compare x with the key of the current node. When going to the right subtree, add size(left_child) + 1 to the answer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2"/>
          <p:cNvSpPr txBox="1"/>
          <p:nvPr>
            <p:ph idx="11" type="ftr"/>
          </p:nvPr>
        </p:nvSpPr>
        <p:spPr>
          <a:xfrm>
            <a:off x="1" y="6294438"/>
            <a:ext cx="44456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University of Science, VNUHCM - APCS 2023</a:t>
            </a:r>
            <a:endParaRPr/>
          </a:p>
        </p:txBody>
      </p:sp>
      <p:sp>
        <p:nvSpPr>
          <p:cNvPr id="504" name="Google Shape;504;p62"/>
          <p:cNvSpPr/>
          <p:nvPr/>
        </p:nvSpPr>
        <p:spPr>
          <a:xfrm>
            <a:off x="2013640" y="3050435"/>
            <a:ext cx="5878725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Tanks foe washing</a:t>
            </a:r>
            <a:endParaRPr b="0" sz="54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VN2011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